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96" d="100"/>
          <a:sy n="96" d="100"/>
        </p:scale>
        <p:origin x="150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>
            <a:extLst>
              <a:ext uri="{FF2B5EF4-FFF2-40B4-BE49-F238E27FC236}">
                <a16:creationId xmlns:a16="http://schemas.microsoft.com/office/drawing/2014/main" id="{CC207E4D-3AB6-43B3-809D-B9000AA0E1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5B2D21-A603-42C8-A72F-106C6775989E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0172700" cy="9525"/>
          </a:xfrm>
          <a:prstGeom prst="rect">
            <a:avLst/>
          </a:prstGeom>
          <a:solidFill>
            <a:srgbClr val="E6EC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794D0C-AEF5-4D12-B3F0-906605BE231A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809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60"/>
                </a:solidFill>
                <a:latin typeface="Aptos"/>
                <a:ea typeface="Aptos"/>
                <a:cs typeface="Aptos"/>
              </a:rPr>
              <a:t>DfE National Curriculum, KS4 Mathematics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0BA1B0-3086-47A8-B4CA-1AAA696B7973}"/>
              </a:ext>
            </a:extLst>
          </p:cNvPr>
          <p:cNvSpPr>
            <a:spLocks noGrp="1"/>
          </p:cNvSpPr>
          <p:nvPr/>
        </p:nvSpPr>
        <p:spPr>
          <a:xfrm>
            <a:off x="10858500" y="6429375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60"/>
                </a:solidFill>
                <a:latin typeface="Aptos"/>
                <a:ea typeface="Aptos"/>
                <a:cs typeface="Aptos"/>
              </a:rPr>
              <a:t>1/4</a:t>
            </a:r>
          </a:p>
        </p:txBody>
      </p:sp>
      <p:sp>
        <p:nvSpPr>
          <p:cNvPr id="5" name="kicker-1-marker">
            <a:extLst>
              <a:ext uri="{FF2B5EF4-FFF2-40B4-BE49-F238E27FC236}">
                <a16:creationId xmlns:a16="http://schemas.microsoft.com/office/drawing/2014/main" id="{428B0882-3A31-45CB-8D80-5A48A99EED0E}"/>
              </a:ext>
            </a:extLst>
          </p:cNvPr>
          <p:cNvSpPr>
            <a:spLocks noGrp="1"/>
          </p:cNvSpPr>
          <p:nvPr/>
        </p:nvSpPr>
        <p:spPr>
          <a:xfrm>
            <a:off x="552450" y="514350"/>
            <a:ext cx="266700" cy="38100"/>
          </a:xfrm>
          <a:prstGeom prst="rect">
            <a:avLst/>
          </a:prstGeom>
          <a:solidFill>
            <a:srgbClr val="247A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-label">
            <a:extLst>
              <a:ext uri="{FF2B5EF4-FFF2-40B4-BE49-F238E27FC236}">
                <a16:creationId xmlns:a16="http://schemas.microsoft.com/office/drawing/2014/main" id="{498EFA15-46FC-4088-9B38-7EAF0F3A80C6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60"/>
                </a:solidFill>
                <a:latin typeface="Aptos"/>
                <a:ea typeface="Aptos"/>
                <a:cs typeface="Aptos"/>
              </a:rPr>
              <a:t>KS4 ALGEBRA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33ABEB-DBD8-4937-A0AC-D69DF0A2BFA4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5905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rPr>
              <a:t>Two equations locate one shared solution.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32C8B2-9798-44EF-8D45-144AC39FC702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547687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460"/>
                </a:solidFill>
                <a:latin typeface="Aptos"/>
                <a:ea typeface="Aptos"/>
                <a:cs typeface="Aptos"/>
              </a:rPr>
              <a:t>Lesson topic: solving simultaneous linear equations by linking elimination to a line intersection.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F81C5B1-6A30-4385-B056-77A3296D15C4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4953000" cy="3143250"/>
          </a:xfrm>
          <a:prstGeom prst="rect">
            <a:avLst/>
          </a:prstGeom>
          <a:solidFill>
            <a:srgbClr val="24312F"/>
          </a:solidFill>
          <a:ln w="9525">
            <a:solidFill>
              <a:srgbClr val="24312F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210A57-A8CD-4B77-8238-DCBD1BAFF59C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4953000" cy="76200"/>
          </a:xfrm>
          <a:prstGeom prst="rect">
            <a:avLst/>
          </a:prstGeom>
          <a:solidFill>
            <a:srgbClr val="E85D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259F66A-2A70-4F6F-8BEF-D88BF5039C1F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Starter example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77DDEB0-9DAE-403D-94A0-9A1B1382F237}"/>
              </a:ext>
            </a:extLst>
          </p:cNvPr>
          <p:cNvSpPr>
            <a:spLocks noGrp="1"/>
          </p:cNvSpPr>
          <p:nvPr/>
        </p:nvSpPr>
        <p:spPr>
          <a:xfrm>
            <a:off x="838200" y="3476625"/>
            <a:ext cx="2476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23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x + y = 5</a:t>
            </a:r>
          </a:p>
          <a:p>
            <a:pPr algn="l">
              <a:defRPr sz="23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23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2x + y = 8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CDF3F6-5A0A-4223-A783-F8B494D4E6E0}"/>
              </a:ext>
            </a:extLst>
          </p:cNvPr>
          <p:cNvSpPr>
            <a:spLocks noGrp="1"/>
          </p:cNvSpPr>
          <p:nvPr/>
        </p:nvSpPr>
        <p:spPr>
          <a:xfrm>
            <a:off x="3543300" y="3143250"/>
            <a:ext cx="9525" cy="2381250"/>
          </a:xfrm>
          <a:prstGeom prst="rect">
            <a:avLst/>
          </a:prstGeom>
          <a:solidFill>
            <a:srgbClr val="485A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045AD62-01ED-48B8-AB64-76279DE18E76}"/>
              </a:ext>
            </a:extLst>
          </p:cNvPr>
          <p:cNvSpPr>
            <a:spLocks noGrp="1"/>
          </p:cNvSpPr>
          <p:nvPr/>
        </p:nvSpPr>
        <p:spPr>
          <a:xfrm>
            <a:off x="3838575" y="3209925"/>
            <a:ext cx="57150" cy="57150"/>
          </a:xfrm>
          <a:prstGeom prst="ellipse">
            <a:avLst/>
          </a:prstGeom>
          <a:solidFill>
            <a:srgbClr val="E2B84C"/>
          </a:solidFill>
          <a:ln w="19050">
            <a:solidFill>
              <a:srgbClr val="E2B84C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7996DEE-764F-4AC7-8A7F-6D02C26D30F1}"/>
              </a:ext>
            </a:extLst>
          </p:cNvPr>
          <p:cNvSpPr>
            <a:spLocks noGrp="1"/>
          </p:cNvSpPr>
          <p:nvPr/>
        </p:nvSpPr>
        <p:spPr>
          <a:xfrm>
            <a:off x="4019550" y="3143250"/>
            <a:ext cx="1219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Subtract the first equation.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5BBC5A70-CC5E-4B11-A63F-26581473BE4C}"/>
              </a:ext>
            </a:extLst>
          </p:cNvPr>
          <p:cNvSpPr>
            <a:spLocks noGrp="1"/>
          </p:cNvSpPr>
          <p:nvPr/>
        </p:nvSpPr>
        <p:spPr>
          <a:xfrm>
            <a:off x="3838575" y="3724275"/>
            <a:ext cx="57150" cy="57150"/>
          </a:xfrm>
          <a:prstGeom prst="ellipse">
            <a:avLst/>
          </a:prstGeom>
          <a:solidFill>
            <a:srgbClr val="E2B84C"/>
          </a:solidFill>
          <a:ln w="19050">
            <a:solidFill>
              <a:srgbClr val="E2B84C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1A12BC-B8EE-4162-915A-161CD73F9447}"/>
              </a:ext>
            </a:extLst>
          </p:cNvPr>
          <p:cNvSpPr>
            <a:spLocks noGrp="1"/>
          </p:cNvSpPr>
          <p:nvPr/>
        </p:nvSpPr>
        <p:spPr>
          <a:xfrm>
            <a:off x="4019550" y="3657600"/>
            <a:ext cx="1219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x = 3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8369D34E-3202-44B1-A021-3F71CBDF2C4E}"/>
              </a:ext>
            </a:extLst>
          </p:cNvPr>
          <p:cNvSpPr>
            <a:spLocks noGrp="1"/>
          </p:cNvSpPr>
          <p:nvPr/>
        </p:nvSpPr>
        <p:spPr>
          <a:xfrm>
            <a:off x="3838575" y="4238625"/>
            <a:ext cx="57150" cy="57150"/>
          </a:xfrm>
          <a:prstGeom prst="ellipse">
            <a:avLst/>
          </a:prstGeom>
          <a:solidFill>
            <a:srgbClr val="247A73"/>
          </a:solidFill>
          <a:ln w="19050">
            <a:solidFill>
              <a:srgbClr val="247A73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C4E75A-66D7-47A7-8172-7B683CA9F1A7}"/>
              </a:ext>
            </a:extLst>
          </p:cNvPr>
          <p:cNvSpPr>
            <a:spLocks noGrp="1"/>
          </p:cNvSpPr>
          <p:nvPr/>
        </p:nvSpPr>
        <p:spPr>
          <a:xfrm>
            <a:off x="4019550" y="4171950"/>
            <a:ext cx="1219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Substitute: 3 + y = 5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040F909-103F-4DB4-9C7E-D5D3DE593852}"/>
              </a:ext>
            </a:extLst>
          </p:cNvPr>
          <p:cNvSpPr>
            <a:spLocks noGrp="1"/>
          </p:cNvSpPr>
          <p:nvPr/>
        </p:nvSpPr>
        <p:spPr>
          <a:xfrm>
            <a:off x="3838575" y="4752975"/>
            <a:ext cx="57150" cy="57150"/>
          </a:xfrm>
          <a:prstGeom prst="ellipse">
            <a:avLst/>
          </a:prstGeom>
          <a:solidFill>
            <a:srgbClr val="E85D4A"/>
          </a:solidFill>
          <a:ln w="19050">
            <a:solidFill>
              <a:srgbClr val="E85D4A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FC3EACC-D612-4D79-9D29-9D4BA2185CE9}"/>
              </a:ext>
            </a:extLst>
          </p:cNvPr>
          <p:cNvSpPr>
            <a:spLocks noGrp="1"/>
          </p:cNvSpPr>
          <p:nvPr/>
        </p:nvSpPr>
        <p:spPr>
          <a:xfrm>
            <a:off x="4019550" y="4686300"/>
            <a:ext cx="1219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y = 2, so the solution is (3, 2).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B69CA77-94CC-4091-B1D8-5E30D465E786}"/>
              </a:ext>
            </a:extLst>
          </p:cNvPr>
          <p:cNvSpPr>
            <a:spLocks noGrp="1"/>
          </p:cNvSpPr>
          <p:nvPr/>
        </p:nvSpPr>
        <p:spPr>
          <a:xfrm>
            <a:off x="838200" y="5105400"/>
            <a:ext cx="2476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FF3C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3C4"/>
                </a:solidFill>
                <a:latin typeface="Aptos"/>
                <a:ea typeface="Aptos"/>
                <a:cs typeface="Aptos"/>
              </a:rPr>
              <a:t>A solution must satisfy both equations.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915A574-338F-43AB-895A-6DD2D779423D}"/>
              </a:ext>
            </a:extLst>
          </p:cNvPr>
          <p:cNvSpPr>
            <a:spLocks noGrp="1"/>
          </p:cNvSpPr>
          <p:nvPr/>
        </p:nvSpPr>
        <p:spPr>
          <a:xfrm>
            <a:off x="6762750" y="1600200"/>
            <a:ext cx="4857750" cy="449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CE8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81BA34C-9AF1-4D93-B94D-9123E1192C9E}"/>
              </a:ext>
            </a:extLst>
          </p:cNvPr>
          <p:cNvSpPr>
            <a:spLocks noGrp="1"/>
          </p:cNvSpPr>
          <p:nvPr/>
        </p:nvSpPr>
        <p:spPr>
          <a:xfrm>
            <a:off x="6877050" y="13335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42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423"/>
                </a:solidFill>
                <a:latin typeface="Aptos"/>
                <a:ea typeface="Aptos"/>
                <a:cs typeface="Aptos"/>
              </a:rPr>
              <a:t>Graphical meaning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C0B86AB-20C8-45EA-89B9-FC03B85779EA}"/>
              </a:ext>
            </a:extLst>
          </p:cNvPr>
          <p:cNvSpPr>
            <a:spLocks noGrp="1"/>
          </p:cNvSpPr>
          <p:nvPr/>
        </p:nvSpPr>
        <p:spPr>
          <a:xfrm>
            <a:off x="6934200" y="1771650"/>
            <a:ext cx="9525" cy="3238500"/>
          </a:xfrm>
          <a:prstGeom prst="rect">
            <a:avLst/>
          </a:prstGeom>
          <a:solidFill>
            <a:srgbClr val="1824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6F0C966-1947-47E7-B614-07A02727E752}"/>
              </a:ext>
            </a:extLst>
          </p:cNvPr>
          <p:cNvSpPr>
            <a:spLocks noGrp="1"/>
          </p:cNvSpPr>
          <p:nvPr/>
        </p:nvSpPr>
        <p:spPr>
          <a:xfrm>
            <a:off x="6934200" y="1771650"/>
            <a:ext cx="3238500" cy="9525"/>
          </a:xfrm>
          <a:prstGeom prst="rect">
            <a:avLst/>
          </a:prstGeom>
          <a:solidFill>
            <a:srgbClr val="E6EC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A8E357C-298D-4F13-B425-0E9999435069}"/>
              </a:ext>
            </a:extLst>
          </p:cNvPr>
          <p:cNvSpPr>
            <a:spLocks noGrp="1"/>
          </p:cNvSpPr>
          <p:nvPr/>
        </p:nvSpPr>
        <p:spPr>
          <a:xfrm>
            <a:off x="7473950" y="1771650"/>
            <a:ext cx="9525" cy="3238500"/>
          </a:xfrm>
          <a:prstGeom prst="rect">
            <a:avLst/>
          </a:prstGeom>
          <a:solidFill>
            <a:srgbClr val="E6EC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F421B6A-596C-46C6-8F3A-900802DE1BA9}"/>
              </a:ext>
            </a:extLst>
          </p:cNvPr>
          <p:cNvSpPr>
            <a:spLocks noGrp="1"/>
          </p:cNvSpPr>
          <p:nvPr/>
        </p:nvSpPr>
        <p:spPr>
          <a:xfrm>
            <a:off x="6934200" y="2311400"/>
            <a:ext cx="3238500" cy="9525"/>
          </a:xfrm>
          <a:prstGeom prst="rect">
            <a:avLst/>
          </a:prstGeom>
          <a:solidFill>
            <a:srgbClr val="E6EC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A949AC5-07F6-4490-A112-04A2D4E75BF1}"/>
              </a:ext>
            </a:extLst>
          </p:cNvPr>
          <p:cNvSpPr>
            <a:spLocks noGrp="1"/>
          </p:cNvSpPr>
          <p:nvPr/>
        </p:nvSpPr>
        <p:spPr>
          <a:xfrm>
            <a:off x="8013700" y="1771650"/>
            <a:ext cx="9525" cy="3238500"/>
          </a:xfrm>
          <a:prstGeom prst="rect">
            <a:avLst/>
          </a:prstGeom>
          <a:solidFill>
            <a:srgbClr val="E6EC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6938BE4-8FD6-4B1F-A5E6-84CB5D0F9F13}"/>
              </a:ext>
            </a:extLst>
          </p:cNvPr>
          <p:cNvSpPr>
            <a:spLocks noGrp="1"/>
          </p:cNvSpPr>
          <p:nvPr/>
        </p:nvSpPr>
        <p:spPr>
          <a:xfrm>
            <a:off x="6934200" y="2851150"/>
            <a:ext cx="3238500" cy="9525"/>
          </a:xfrm>
          <a:prstGeom prst="rect">
            <a:avLst/>
          </a:prstGeom>
          <a:solidFill>
            <a:srgbClr val="E6EC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0D2E754-7EC8-40F0-A517-2CACF9F5EB93}"/>
              </a:ext>
            </a:extLst>
          </p:cNvPr>
          <p:cNvSpPr>
            <a:spLocks noGrp="1"/>
          </p:cNvSpPr>
          <p:nvPr/>
        </p:nvSpPr>
        <p:spPr>
          <a:xfrm>
            <a:off x="8553450" y="1771650"/>
            <a:ext cx="9525" cy="3238500"/>
          </a:xfrm>
          <a:prstGeom prst="rect">
            <a:avLst/>
          </a:prstGeom>
          <a:solidFill>
            <a:srgbClr val="E6EC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BCEC5EE-9F77-412B-B692-3F8464D69003}"/>
              </a:ext>
            </a:extLst>
          </p:cNvPr>
          <p:cNvSpPr>
            <a:spLocks noGrp="1"/>
          </p:cNvSpPr>
          <p:nvPr/>
        </p:nvSpPr>
        <p:spPr>
          <a:xfrm>
            <a:off x="6934200" y="3390900"/>
            <a:ext cx="3238500" cy="9525"/>
          </a:xfrm>
          <a:prstGeom prst="rect">
            <a:avLst/>
          </a:prstGeom>
          <a:solidFill>
            <a:srgbClr val="E6EC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144E4C0-1BAD-44BD-AB47-12D2ED77D4D3}"/>
              </a:ext>
            </a:extLst>
          </p:cNvPr>
          <p:cNvSpPr>
            <a:spLocks noGrp="1"/>
          </p:cNvSpPr>
          <p:nvPr/>
        </p:nvSpPr>
        <p:spPr>
          <a:xfrm>
            <a:off x="9093200" y="1771650"/>
            <a:ext cx="9525" cy="3238500"/>
          </a:xfrm>
          <a:prstGeom prst="rect">
            <a:avLst/>
          </a:prstGeom>
          <a:solidFill>
            <a:srgbClr val="E6EC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29F326D-AA2F-4103-84B0-C6E385ED9DB6}"/>
              </a:ext>
            </a:extLst>
          </p:cNvPr>
          <p:cNvSpPr>
            <a:spLocks noGrp="1"/>
          </p:cNvSpPr>
          <p:nvPr/>
        </p:nvSpPr>
        <p:spPr>
          <a:xfrm>
            <a:off x="6934200" y="3930650"/>
            <a:ext cx="3238500" cy="9525"/>
          </a:xfrm>
          <a:prstGeom prst="rect">
            <a:avLst/>
          </a:prstGeom>
          <a:solidFill>
            <a:srgbClr val="E6EC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9A36F0E-4BE7-47D5-B4FE-09AD9AF5041D}"/>
              </a:ext>
            </a:extLst>
          </p:cNvPr>
          <p:cNvSpPr>
            <a:spLocks noGrp="1"/>
          </p:cNvSpPr>
          <p:nvPr/>
        </p:nvSpPr>
        <p:spPr>
          <a:xfrm>
            <a:off x="9632950" y="1771650"/>
            <a:ext cx="9525" cy="3238500"/>
          </a:xfrm>
          <a:prstGeom prst="rect">
            <a:avLst/>
          </a:prstGeom>
          <a:solidFill>
            <a:srgbClr val="E6EC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276D7C4-CB88-4093-91CB-6E0FEC9FD4DC}"/>
              </a:ext>
            </a:extLst>
          </p:cNvPr>
          <p:cNvSpPr>
            <a:spLocks noGrp="1"/>
          </p:cNvSpPr>
          <p:nvPr/>
        </p:nvSpPr>
        <p:spPr>
          <a:xfrm>
            <a:off x="6934200" y="4470400"/>
            <a:ext cx="3238500" cy="9525"/>
          </a:xfrm>
          <a:prstGeom prst="rect">
            <a:avLst/>
          </a:prstGeom>
          <a:solidFill>
            <a:srgbClr val="E6EC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D32A974-AA4E-4808-A2B1-2B2AC5341728}"/>
              </a:ext>
            </a:extLst>
          </p:cNvPr>
          <p:cNvSpPr>
            <a:spLocks noGrp="1"/>
          </p:cNvSpPr>
          <p:nvPr/>
        </p:nvSpPr>
        <p:spPr>
          <a:xfrm>
            <a:off x="10172700" y="1771650"/>
            <a:ext cx="9525" cy="3238500"/>
          </a:xfrm>
          <a:prstGeom prst="rect">
            <a:avLst/>
          </a:prstGeom>
          <a:solidFill>
            <a:srgbClr val="E6EC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CFDAC30-3D18-439E-B33C-964540687EAB}"/>
              </a:ext>
            </a:extLst>
          </p:cNvPr>
          <p:cNvSpPr>
            <a:spLocks noGrp="1"/>
          </p:cNvSpPr>
          <p:nvPr/>
        </p:nvSpPr>
        <p:spPr>
          <a:xfrm>
            <a:off x="6934200" y="5010150"/>
            <a:ext cx="3238500" cy="9525"/>
          </a:xfrm>
          <a:prstGeom prst="rect">
            <a:avLst/>
          </a:prstGeom>
          <a:solidFill>
            <a:srgbClr val="1824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8C55571-7D70-4CDF-98BE-9D9D1B772EF5}"/>
              </a:ext>
            </a:extLst>
          </p:cNvPr>
          <p:cNvSpPr>
            <a:spLocks noGrp="1"/>
          </p:cNvSpPr>
          <p:nvPr/>
        </p:nvSpPr>
        <p:spPr>
          <a:xfrm>
            <a:off x="6762750" y="5048250"/>
            <a:ext cx="19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60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E2A5D5C-2C71-4BCD-ACC3-C8DF7E18C25C}"/>
              </a:ext>
            </a:extLst>
          </p:cNvPr>
          <p:cNvSpPr>
            <a:spLocks noGrp="1"/>
          </p:cNvSpPr>
          <p:nvPr/>
        </p:nvSpPr>
        <p:spPr>
          <a:xfrm>
            <a:off x="8477250" y="504825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6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5BB9C05-843D-4413-98AB-3E2B3819D42C}"/>
              </a:ext>
            </a:extLst>
          </p:cNvPr>
          <p:cNvSpPr>
            <a:spLocks noGrp="1"/>
          </p:cNvSpPr>
          <p:nvPr/>
        </p:nvSpPr>
        <p:spPr>
          <a:xfrm>
            <a:off x="10096500" y="504825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6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894830C-C67B-45A7-821D-247245B44736}"/>
              </a:ext>
            </a:extLst>
          </p:cNvPr>
          <p:cNvSpPr>
            <a:spLocks noGrp="1"/>
          </p:cNvSpPr>
          <p:nvPr/>
        </p:nvSpPr>
        <p:spPr>
          <a:xfrm>
            <a:off x="6705600" y="169545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6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45837DB-DFFA-4791-A4FC-6C23CEED737F}"/>
              </a:ext>
            </a:extLst>
          </p:cNvPr>
          <p:cNvSpPr>
            <a:spLocks noGrp="1"/>
          </p:cNvSpPr>
          <p:nvPr/>
        </p:nvSpPr>
        <p:spPr>
          <a:xfrm>
            <a:off x="10267950" y="4933950"/>
            <a:ext cx="19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6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C98F5E6-221D-4B35-947B-614922C76AA9}"/>
              </a:ext>
            </a:extLst>
          </p:cNvPr>
          <p:cNvSpPr>
            <a:spLocks noGrp="1"/>
          </p:cNvSpPr>
          <p:nvPr/>
        </p:nvSpPr>
        <p:spPr>
          <a:xfrm>
            <a:off x="7010400" y="1809750"/>
            <a:ext cx="19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60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B06EC0CA-65D4-49F6-9E86-604EA5D86466}"/>
              </a:ext>
            </a:extLst>
          </p:cNvPr>
          <p:cNvSpPr>
            <a:spLocks noGrp="1"/>
          </p:cNvSpPr>
          <p:nvPr/>
        </p:nvSpPr>
        <p:spPr>
          <a:xfrm>
            <a:off x="6934200" y="2311400"/>
            <a:ext cx="2698750" cy="2698750"/>
          </a:xfrm>
          <a:prstGeom prst="line">
            <a:avLst/>
          </a:prstGeom>
          <a:solidFill>
            <a:srgbClr val="000000">
              <a:alpha val="0"/>
            </a:srgbClr>
          </a:solidFill>
          <a:ln w="47625">
            <a:solidFill>
              <a:srgbClr val="247A73"/>
            </a:solidFill>
            <a:prstDash val="solid"/>
          </a:ln>
        </p:spPr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DC6A98B9-E9A9-4B92-B460-D2BE0B29656B}"/>
              </a:ext>
            </a:extLst>
          </p:cNvPr>
          <p:cNvSpPr>
            <a:spLocks noGrp="1"/>
          </p:cNvSpPr>
          <p:nvPr/>
        </p:nvSpPr>
        <p:spPr>
          <a:xfrm>
            <a:off x="7473950" y="1771650"/>
            <a:ext cx="1619250" cy="3238500"/>
          </a:xfrm>
          <a:prstGeom prst="line">
            <a:avLst/>
          </a:prstGeom>
          <a:solidFill>
            <a:srgbClr val="000000">
              <a:alpha val="0"/>
            </a:srgbClr>
          </a:solidFill>
          <a:ln w="47625">
            <a:solidFill>
              <a:srgbClr val="E85D4A"/>
            </a:solidFill>
            <a:prstDash val="solid"/>
          </a:ln>
        </p:spPr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B5E952F5-B9AC-4151-B099-A59D1D8DCF2B}"/>
              </a:ext>
            </a:extLst>
          </p:cNvPr>
          <p:cNvSpPr>
            <a:spLocks noGrp="1"/>
          </p:cNvSpPr>
          <p:nvPr/>
        </p:nvSpPr>
        <p:spPr>
          <a:xfrm>
            <a:off x="8467725" y="3844925"/>
            <a:ext cx="171450" cy="171450"/>
          </a:xfrm>
          <a:prstGeom prst="ellipse">
            <a:avLst/>
          </a:prstGeom>
          <a:solidFill>
            <a:srgbClr val="E2B84C"/>
          </a:solidFill>
          <a:ln w="19050">
            <a:solidFill>
              <a:srgbClr val="182423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712D120-D417-4219-805F-251AAFA7E01F}"/>
              </a:ext>
            </a:extLst>
          </p:cNvPr>
          <p:cNvSpPr>
            <a:spLocks noGrp="1"/>
          </p:cNvSpPr>
          <p:nvPr/>
        </p:nvSpPr>
        <p:spPr>
          <a:xfrm>
            <a:off x="8686800" y="3778250"/>
            <a:ext cx="723900" cy="285750"/>
          </a:xfrm>
          <a:prstGeom prst="rect">
            <a:avLst/>
          </a:prstGeom>
          <a:solidFill>
            <a:srgbClr val="FFF3C4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77EFBFB-F255-4D27-B934-8A0909E96BA8}"/>
              </a:ext>
            </a:extLst>
          </p:cNvPr>
          <p:cNvSpPr>
            <a:spLocks noGrp="1"/>
          </p:cNvSpPr>
          <p:nvPr/>
        </p:nvSpPr>
        <p:spPr>
          <a:xfrm>
            <a:off x="8782050" y="383540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2423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82423"/>
                </a:solidFill>
                <a:latin typeface="Aptos Mono"/>
                <a:ea typeface="Aptos Mono"/>
                <a:cs typeface="Aptos Mono"/>
              </a:rPr>
              <a:t>(3, 2)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13C363D-CFBC-4194-9F05-E3D1E64AFF94}"/>
              </a:ext>
            </a:extLst>
          </p:cNvPr>
          <p:cNvSpPr>
            <a:spLocks noGrp="1"/>
          </p:cNvSpPr>
          <p:nvPr/>
        </p:nvSpPr>
        <p:spPr>
          <a:xfrm>
            <a:off x="8077200" y="3009900"/>
            <a:ext cx="1104900" cy="285750"/>
          </a:xfrm>
          <a:prstGeom prst="rect">
            <a:avLst/>
          </a:prstGeom>
          <a:solidFill>
            <a:srgbClr val="E3F3F0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6F018D3-B4B8-40B7-8E28-6B2860BB2C07}"/>
              </a:ext>
            </a:extLst>
          </p:cNvPr>
          <p:cNvSpPr>
            <a:spLocks noGrp="1"/>
          </p:cNvSpPr>
          <p:nvPr/>
        </p:nvSpPr>
        <p:spPr>
          <a:xfrm>
            <a:off x="8172450" y="3067050"/>
            <a:ext cx="91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47A73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47A73"/>
                </a:solidFill>
                <a:latin typeface="Aptos Mono"/>
                <a:ea typeface="Aptos Mono"/>
                <a:cs typeface="Aptos Mono"/>
              </a:rPr>
              <a:t>x + y = 5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BE1C195-8361-4664-9026-1E4121252F42}"/>
              </a:ext>
            </a:extLst>
          </p:cNvPr>
          <p:cNvSpPr>
            <a:spLocks noGrp="1"/>
          </p:cNvSpPr>
          <p:nvPr/>
        </p:nvSpPr>
        <p:spPr>
          <a:xfrm>
            <a:off x="8743950" y="2324100"/>
            <a:ext cx="1200150" cy="285750"/>
          </a:xfrm>
          <a:prstGeom prst="rect">
            <a:avLst/>
          </a:prstGeom>
          <a:solidFill>
            <a:srgbClr val="FCE6E1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9818C9C-A498-43A6-B5B3-C49EB071AAD4}"/>
              </a:ext>
            </a:extLst>
          </p:cNvPr>
          <p:cNvSpPr>
            <a:spLocks noGrp="1"/>
          </p:cNvSpPr>
          <p:nvPr/>
        </p:nvSpPr>
        <p:spPr>
          <a:xfrm>
            <a:off x="8839200" y="2381250"/>
            <a:ext cx="1009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85D4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85D4A"/>
                </a:solidFill>
                <a:latin typeface="Aptos Mono"/>
                <a:ea typeface="Aptos Mono"/>
                <a:cs typeface="Aptos Mono"/>
              </a:rPr>
              <a:t>2x + y = 8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BDEDBF5-AAC0-4E9C-9B91-5CC852733BC8}"/>
              </a:ext>
            </a:extLst>
          </p:cNvPr>
          <p:cNvSpPr>
            <a:spLocks noGrp="1"/>
          </p:cNvSpPr>
          <p:nvPr/>
        </p:nvSpPr>
        <p:spPr>
          <a:xfrm>
            <a:off x="6854825" y="542607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2423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82423"/>
                </a:solidFill>
                <a:latin typeface="Aptos"/>
                <a:ea typeface="Aptos"/>
                <a:cs typeface="Aptos"/>
              </a:rPr>
              <a:t>Knowledge target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38269BA-446B-4FC2-8EAE-98758670CA35}"/>
              </a:ext>
            </a:extLst>
          </p:cNvPr>
          <p:cNvSpPr>
            <a:spLocks noGrp="1"/>
          </p:cNvSpPr>
          <p:nvPr/>
        </p:nvSpPr>
        <p:spPr>
          <a:xfrm>
            <a:off x="8553450" y="5387975"/>
            <a:ext cx="2971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5B6460"/>
                </a:solidFill>
                <a:latin typeface="Aptos"/>
                <a:ea typeface="Aptos"/>
                <a:cs typeface="Aptos"/>
              </a:rPr>
              <a:t>Pupils connect the algebraic answer to the intersection of two straight lines.</a:t>
            </a:r>
          </a:p>
        </p:txBody>
      </p:sp>
    </p:spTree>
    <p:extLst>
      <p:ext uri="{BB962C8B-B14F-4D97-AF65-F5344CB8AC3E}">
        <p14:creationId xmlns:p14="http://schemas.microsoft.com/office/powerpoint/2010/main" val="336540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E02EAE5A-3BD2-46E1-AC32-DF611F678B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A44C11-932A-4774-BDCE-6B9AC05BA835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0172700" cy="9525"/>
          </a:xfrm>
          <a:prstGeom prst="rect">
            <a:avLst/>
          </a:prstGeom>
          <a:solidFill>
            <a:srgbClr val="E6EC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A147128-1F9B-41D0-8D05-0034D0D68EA4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809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60"/>
                </a:solidFill>
                <a:latin typeface="Aptos"/>
                <a:ea typeface="Aptos"/>
                <a:cs typeface="Aptos"/>
              </a:rPr>
              <a:t>DfE National Curriculum, KS4 Mathematics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C36DEA-F845-4A6D-851F-FCDA194199B3}"/>
              </a:ext>
            </a:extLst>
          </p:cNvPr>
          <p:cNvSpPr>
            <a:spLocks noGrp="1"/>
          </p:cNvSpPr>
          <p:nvPr/>
        </p:nvSpPr>
        <p:spPr>
          <a:xfrm>
            <a:off x="10858500" y="6429375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60"/>
                </a:solidFill>
                <a:latin typeface="Aptos"/>
                <a:ea typeface="Aptos"/>
                <a:cs typeface="Aptos"/>
              </a:rPr>
              <a:t>2/4</a:t>
            </a:r>
          </a:p>
        </p:txBody>
      </p:sp>
      <p:sp>
        <p:nvSpPr>
          <p:cNvPr id="5" name="kicker-2-marker">
            <a:extLst>
              <a:ext uri="{FF2B5EF4-FFF2-40B4-BE49-F238E27FC236}">
                <a16:creationId xmlns:a16="http://schemas.microsoft.com/office/drawing/2014/main" id="{052BE987-5AC3-4559-8C91-7DBA6B7DF438}"/>
              </a:ext>
            </a:extLst>
          </p:cNvPr>
          <p:cNvSpPr>
            <a:spLocks noGrp="1"/>
          </p:cNvSpPr>
          <p:nvPr/>
        </p:nvSpPr>
        <p:spPr>
          <a:xfrm>
            <a:off x="552450" y="514350"/>
            <a:ext cx="266700" cy="38100"/>
          </a:xfrm>
          <a:prstGeom prst="rect">
            <a:avLst/>
          </a:prstGeom>
          <a:solidFill>
            <a:srgbClr val="E85D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2-label">
            <a:extLst>
              <a:ext uri="{FF2B5EF4-FFF2-40B4-BE49-F238E27FC236}">
                <a16:creationId xmlns:a16="http://schemas.microsoft.com/office/drawing/2014/main" id="{25EECB23-D28E-4F12-8863-656898DBB955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60"/>
                </a:solidFill>
                <a:latin typeface="Aptos"/>
                <a:ea typeface="Aptos"/>
                <a:cs typeface="Aptos"/>
              </a:rPr>
              <a:t>LESSON STRUCTURE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94A5C0-6F2F-4064-90E3-5452A5D0DF23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858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rPr>
              <a:t>The hour moves from meaning to method to independent use.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487017-26B4-417C-A5F6-DAEB3A37DF7C}"/>
              </a:ext>
            </a:extLst>
          </p:cNvPr>
          <p:cNvSpPr>
            <a:spLocks noGrp="1"/>
          </p:cNvSpPr>
          <p:nvPr/>
        </p:nvSpPr>
        <p:spPr>
          <a:xfrm>
            <a:off x="552450" y="1981200"/>
            <a:ext cx="1752600" cy="2381250"/>
          </a:xfrm>
          <a:prstGeom prst="rect">
            <a:avLst/>
          </a:prstGeom>
          <a:solidFill>
            <a:srgbClr val="E3F3F0"/>
          </a:solidFill>
          <a:ln w="9525">
            <a:solidFill>
              <a:srgbClr val="D7E1DC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81DDCF-4B18-4408-81FF-DE9CA793488F}"/>
              </a:ext>
            </a:extLst>
          </p:cNvPr>
          <p:cNvSpPr>
            <a:spLocks noGrp="1"/>
          </p:cNvSpPr>
          <p:nvPr/>
        </p:nvSpPr>
        <p:spPr>
          <a:xfrm>
            <a:off x="552450" y="1981200"/>
            <a:ext cx="1752600" cy="76200"/>
          </a:xfrm>
          <a:prstGeom prst="rect">
            <a:avLst/>
          </a:prstGeom>
          <a:solidFill>
            <a:srgbClr val="247A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424735C-7785-449F-B639-7BF038F75ADF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1447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60"/>
                </a:solidFill>
                <a:latin typeface="Aptos"/>
                <a:ea typeface="Aptos"/>
                <a:cs typeface="Aptos"/>
              </a:rPr>
              <a:t>0-8 min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9271C40-8FF4-43ED-8E6E-07EE8D5F3360}"/>
              </a:ext>
            </a:extLst>
          </p:cNvPr>
          <p:cNvSpPr>
            <a:spLocks noGrp="1"/>
          </p:cNvSpPr>
          <p:nvPr/>
        </p:nvSpPr>
        <p:spPr>
          <a:xfrm>
            <a:off x="704850" y="2552700"/>
            <a:ext cx="1447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rPr>
              <a:t>Retrieve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D5B1AD-D788-48DD-BA82-4EB571C32614}"/>
              </a:ext>
            </a:extLst>
          </p:cNvPr>
          <p:cNvSpPr>
            <a:spLocks noGrp="1"/>
          </p:cNvSpPr>
          <p:nvPr/>
        </p:nvSpPr>
        <p:spPr>
          <a:xfrm>
            <a:off x="704850" y="2990850"/>
            <a:ext cx="1447800" cy="9525"/>
          </a:xfrm>
          <a:prstGeom prst="rect">
            <a:avLst/>
          </a:prstGeom>
          <a:solidFill>
            <a:srgbClr val="C7D2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CD1D12-F859-490B-9B46-22D8DF97C990}"/>
              </a:ext>
            </a:extLst>
          </p:cNvPr>
          <p:cNvSpPr>
            <a:spLocks noGrp="1"/>
          </p:cNvSpPr>
          <p:nvPr/>
        </p:nvSpPr>
        <p:spPr>
          <a:xfrm>
            <a:off x="704850" y="3181350"/>
            <a:ext cx="14478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423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182423"/>
                </a:solidFill>
                <a:latin typeface="Aptos"/>
                <a:ea typeface="Aptos"/>
                <a:cs typeface="Aptos"/>
              </a:rPr>
              <a:t>Rearrange to y = mx + c; plot two points; solve one-step equations.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62A7848-13E7-4052-9989-768D6D5D5D7C}"/>
              </a:ext>
            </a:extLst>
          </p:cNvPr>
          <p:cNvSpPr>
            <a:spLocks noGrp="1"/>
          </p:cNvSpPr>
          <p:nvPr/>
        </p:nvSpPr>
        <p:spPr>
          <a:xfrm>
            <a:off x="2419350" y="1981200"/>
            <a:ext cx="1752600" cy="2381250"/>
          </a:xfrm>
          <a:prstGeom prst="rect">
            <a:avLst/>
          </a:prstGeom>
          <a:solidFill>
            <a:srgbClr val="FCE6E1"/>
          </a:solidFill>
          <a:ln w="9525">
            <a:solidFill>
              <a:srgbClr val="D7E1DC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44EE42B-6EC2-446A-8A69-ADB1709517F6}"/>
              </a:ext>
            </a:extLst>
          </p:cNvPr>
          <p:cNvSpPr>
            <a:spLocks noGrp="1"/>
          </p:cNvSpPr>
          <p:nvPr/>
        </p:nvSpPr>
        <p:spPr>
          <a:xfrm>
            <a:off x="2419350" y="1981200"/>
            <a:ext cx="1752600" cy="76200"/>
          </a:xfrm>
          <a:prstGeom prst="rect">
            <a:avLst/>
          </a:prstGeom>
          <a:solidFill>
            <a:srgbClr val="E85D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2B63474-981B-40AC-8042-763EDA16A480}"/>
              </a:ext>
            </a:extLst>
          </p:cNvPr>
          <p:cNvSpPr>
            <a:spLocks noGrp="1"/>
          </p:cNvSpPr>
          <p:nvPr/>
        </p:nvSpPr>
        <p:spPr>
          <a:xfrm>
            <a:off x="2571750" y="2247900"/>
            <a:ext cx="1447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60"/>
                </a:solidFill>
                <a:latin typeface="Aptos"/>
                <a:ea typeface="Aptos"/>
                <a:cs typeface="Aptos"/>
              </a:rPr>
              <a:t>8-18 min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6AA7589-9ABD-49A9-8F15-44D4C3FAA7D4}"/>
              </a:ext>
            </a:extLst>
          </p:cNvPr>
          <p:cNvSpPr>
            <a:spLocks noGrp="1"/>
          </p:cNvSpPr>
          <p:nvPr/>
        </p:nvSpPr>
        <p:spPr>
          <a:xfrm>
            <a:off x="2571750" y="2552700"/>
            <a:ext cx="1447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rPr>
              <a:t>Hook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A64C020-741A-4BD6-AB84-064C55180437}"/>
              </a:ext>
            </a:extLst>
          </p:cNvPr>
          <p:cNvSpPr>
            <a:spLocks noGrp="1"/>
          </p:cNvSpPr>
          <p:nvPr/>
        </p:nvSpPr>
        <p:spPr>
          <a:xfrm>
            <a:off x="2571750" y="2990850"/>
            <a:ext cx="1447800" cy="9525"/>
          </a:xfrm>
          <a:prstGeom prst="rect">
            <a:avLst/>
          </a:prstGeom>
          <a:solidFill>
            <a:srgbClr val="C7D2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C647B40-E801-4FB5-A0A5-582E63BB54A4}"/>
              </a:ext>
            </a:extLst>
          </p:cNvPr>
          <p:cNvSpPr>
            <a:spLocks noGrp="1"/>
          </p:cNvSpPr>
          <p:nvPr/>
        </p:nvSpPr>
        <p:spPr>
          <a:xfrm>
            <a:off x="2571750" y="3181350"/>
            <a:ext cx="14478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42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423"/>
                </a:solidFill>
                <a:latin typeface="Aptos"/>
                <a:ea typeface="Aptos"/>
                <a:cs typeface="Aptos"/>
              </a:rPr>
              <a:t>Which point works in both rules? Pupils test points on mini-whiteboards.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86BA49E-6BA5-4BAE-BC0D-4AE9A05D579A}"/>
              </a:ext>
            </a:extLst>
          </p:cNvPr>
          <p:cNvSpPr>
            <a:spLocks noGrp="1"/>
          </p:cNvSpPr>
          <p:nvPr/>
        </p:nvSpPr>
        <p:spPr>
          <a:xfrm>
            <a:off x="4286250" y="1981200"/>
            <a:ext cx="1752600" cy="2381250"/>
          </a:xfrm>
          <a:prstGeom prst="rect">
            <a:avLst/>
          </a:prstGeom>
          <a:solidFill>
            <a:srgbClr val="FFF3C4"/>
          </a:solidFill>
          <a:ln w="9525">
            <a:solidFill>
              <a:srgbClr val="D7E1DC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C9EA341-1257-4AF4-9B64-4AB8E5743648}"/>
              </a:ext>
            </a:extLst>
          </p:cNvPr>
          <p:cNvSpPr>
            <a:spLocks noGrp="1"/>
          </p:cNvSpPr>
          <p:nvPr/>
        </p:nvSpPr>
        <p:spPr>
          <a:xfrm>
            <a:off x="4286250" y="1981200"/>
            <a:ext cx="1752600" cy="76200"/>
          </a:xfrm>
          <a:prstGeom prst="rect">
            <a:avLst/>
          </a:prstGeom>
          <a:solidFill>
            <a:srgbClr val="E2B8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E5DD114-D598-4EDF-847B-4A074706822E}"/>
              </a:ext>
            </a:extLst>
          </p:cNvPr>
          <p:cNvSpPr>
            <a:spLocks noGrp="1"/>
          </p:cNvSpPr>
          <p:nvPr/>
        </p:nvSpPr>
        <p:spPr>
          <a:xfrm>
            <a:off x="4438650" y="2247900"/>
            <a:ext cx="1447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60"/>
                </a:solidFill>
                <a:latin typeface="Aptos"/>
                <a:ea typeface="Aptos"/>
                <a:cs typeface="Aptos"/>
              </a:rPr>
              <a:t>18-33 min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CEF9A35-6226-4757-BE70-6EC6A34E60F7}"/>
              </a:ext>
            </a:extLst>
          </p:cNvPr>
          <p:cNvSpPr>
            <a:spLocks noGrp="1"/>
          </p:cNvSpPr>
          <p:nvPr/>
        </p:nvSpPr>
        <p:spPr>
          <a:xfrm>
            <a:off x="4438650" y="2552700"/>
            <a:ext cx="1447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rPr>
              <a:t>Model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F959C8A-6FC0-4D5D-93D2-9F6DDBCBBA79}"/>
              </a:ext>
            </a:extLst>
          </p:cNvPr>
          <p:cNvSpPr>
            <a:spLocks noGrp="1"/>
          </p:cNvSpPr>
          <p:nvPr/>
        </p:nvSpPr>
        <p:spPr>
          <a:xfrm>
            <a:off x="4438650" y="2990850"/>
            <a:ext cx="1447800" cy="9525"/>
          </a:xfrm>
          <a:prstGeom prst="rect">
            <a:avLst/>
          </a:prstGeom>
          <a:solidFill>
            <a:srgbClr val="C7D2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83C012B-16A4-4D76-8A8D-252FE3B16D05}"/>
              </a:ext>
            </a:extLst>
          </p:cNvPr>
          <p:cNvSpPr>
            <a:spLocks noGrp="1"/>
          </p:cNvSpPr>
          <p:nvPr/>
        </p:nvSpPr>
        <p:spPr>
          <a:xfrm>
            <a:off x="4438650" y="3181350"/>
            <a:ext cx="14478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42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423"/>
                </a:solidFill>
                <a:latin typeface="Aptos"/>
                <a:ea typeface="Aptos"/>
                <a:cs typeface="Aptos"/>
              </a:rPr>
              <a:t>Plot both lines, then eliminate the shared y term to solve exactly.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93A2A70-F23B-4E2E-A49C-D7F89550C528}"/>
              </a:ext>
            </a:extLst>
          </p:cNvPr>
          <p:cNvSpPr>
            <a:spLocks noGrp="1"/>
          </p:cNvSpPr>
          <p:nvPr/>
        </p:nvSpPr>
        <p:spPr>
          <a:xfrm>
            <a:off x="6153150" y="1981200"/>
            <a:ext cx="1752600" cy="2381250"/>
          </a:xfrm>
          <a:prstGeom prst="rect">
            <a:avLst/>
          </a:prstGeom>
          <a:solidFill>
            <a:srgbClr val="E3F3F0"/>
          </a:solidFill>
          <a:ln w="9525">
            <a:solidFill>
              <a:srgbClr val="D7E1DC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D873BE0-0138-4C87-8DE3-44BE5E85144E}"/>
              </a:ext>
            </a:extLst>
          </p:cNvPr>
          <p:cNvSpPr>
            <a:spLocks noGrp="1"/>
          </p:cNvSpPr>
          <p:nvPr/>
        </p:nvSpPr>
        <p:spPr>
          <a:xfrm>
            <a:off x="6153150" y="1981200"/>
            <a:ext cx="1752600" cy="76200"/>
          </a:xfrm>
          <a:prstGeom prst="rect">
            <a:avLst/>
          </a:prstGeom>
          <a:solidFill>
            <a:srgbClr val="247A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E439AF5-31B7-4BE9-877E-6BAB14D0AD86}"/>
              </a:ext>
            </a:extLst>
          </p:cNvPr>
          <p:cNvSpPr>
            <a:spLocks noGrp="1"/>
          </p:cNvSpPr>
          <p:nvPr/>
        </p:nvSpPr>
        <p:spPr>
          <a:xfrm>
            <a:off x="6305550" y="2247900"/>
            <a:ext cx="1447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60"/>
                </a:solidFill>
                <a:latin typeface="Aptos"/>
                <a:ea typeface="Aptos"/>
                <a:cs typeface="Aptos"/>
              </a:rPr>
              <a:t>33-48 min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7ED4800-D12C-4875-A9FC-4898C537F041}"/>
              </a:ext>
            </a:extLst>
          </p:cNvPr>
          <p:cNvSpPr>
            <a:spLocks noGrp="1"/>
          </p:cNvSpPr>
          <p:nvPr/>
        </p:nvSpPr>
        <p:spPr>
          <a:xfrm>
            <a:off x="6305550" y="2552700"/>
            <a:ext cx="1447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rPr>
              <a:t>Practise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1987206-1100-4C4D-A686-ABC7F7D0B273}"/>
              </a:ext>
            </a:extLst>
          </p:cNvPr>
          <p:cNvSpPr>
            <a:spLocks noGrp="1"/>
          </p:cNvSpPr>
          <p:nvPr/>
        </p:nvSpPr>
        <p:spPr>
          <a:xfrm>
            <a:off x="6305550" y="2990850"/>
            <a:ext cx="1447800" cy="9525"/>
          </a:xfrm>
          <a:prstGeom prst="rect">
            <a:avLst/>
          </a:prstGeom>
          <a:solidFill>
            <a:srgbClr val="C7D2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DC40CFA-5CE8-4164-8CBC-2BDA44B4F560}"/>
              </a:ext>
            </a:extLst>
          </p:cNvPr>
          <p:cNvSpPr>
            <a:spLocks noGrp="1"/>
          </p:cNvSpPr>
          <p:nvPr/>
        </p:nvSpPr>
        <p:spPr>
          <a:xfrm>
            <a:off x="6305550" y="3181350"/>
            <a:ext cx="14478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42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423"/>
                </a:solidFill>
                <a:latin typeface="Aptos"/>
                <a:ea typeface="Aptos"/>
                <a:cs typeface="Aptos"/>
              </a:rPr>
              <a:t>Pairs match graph, equations, and solution before independent practice.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F16B50B-BE4B-4DF8-8D5C-5157B35C608D}"/>
              </a:ext>
            </a:extLst>
          </p:cNvPr>
          <p:cNvSpPr>
            <a:spLocks noGrp="1"/>
          </p:cNvSpPr>
          <p:nvPr/>
        </p:nvSpPr>
        <p:spPr>
          <a:xfrm>
            <a:off x="8020050" y="1981200"/>
            <a:ext cx="1752600" cy="2381250"/>
          </a:xfrm>
          <a:prstGeom prst="rect">
            <a:avLst/>
          </a:prstGeom>
          <a:solidFill>
            <a:srgbClr val="FCE6E1"/>
          </a:solidFill>
          <a:ln w="9525">
            <a:solidFill>
              <a:srgbClr val="D7E1DC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1920080-12B0-4AE4-93A5-7DE99261B015}"/>
              </a:ext>
            </a:extLst>
          </p:cNvPr>
          <p:cNvSpPr>
            <a:spLocks noGrp="1"/>
          </p:cNvSpPr>
          <p:nvPr/>
        </p:nvSpPr>
        <p:spPr>
          <a:xfrm>
            <a:off x="8020050" y="1981200"/>
            <a:ext cx="1752600" cy="76200"/>
          </a:xfrm>
          <a:prstGeom prst="rect">
            <a:avLst/>
          </a:prstGeom>
          <a:solidFill>
            <a:srgbClr val="E85D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EC20DE0-C7FA-4C4F-8F46-EFA8EB67115A}"/>
              </a:ext>
            </a:extLst>
          </p:cNvPr>
          <p:cNvSpPr>
            <a:spLocks noGrp="1"/>
          </p:cNvSpPr>
          <p:nvPr/>
        </p:nvSpPr>
        <p:spPr>
          <a:xfrm>
            <a:off x="8172450" y="2247900"/>
            <a:ext cx="1447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60"/>
                </a:solidFill>
                <a:latin typeface="Aptos"/>
                <a:ea typeface="Aptos"/>
                <a:cs typeface="Aptos"/>
              </a:rPr>
              <a:t>48-56 min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837998B-3A17-4CA6-8226-66C408DFDA0B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47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rPr>
              <a:t>Check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3FFC41E-C8EB-4763-A440-C1B1340702ED}"/>
              </a:ext>
            </a:extLst>
          </p:cNvPr>
          <p:cNvSpPr>
            <a:spLocks noGrp="1"/>
          </p:cNvSpPr>
          <p:nvPr/>
        </p:nvSpPr>
        <p:spPr>
          <a:xfrm>
            <a:off x="8172450" y="2990850"/>
            <a:ext cx="1447800" cy="9525"/>
          </a:xfrm>
          <a:prstGeom prst="rect">
            <a:avLst/>
          </a:prstGeom>
          <a:solidFill>
            <a:srgbClr val="C7D2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CD0DF06-8175-45AF-B136-BB19D673F13D}"/>
              </a:ext>
            </a:extLst>
          </p:cNvPr>
          <p:cNvSpPr>
            <a:spLocks noGrp="1"/>
          </p:cNvSpPr>
          <p:nvPr/>
        </p:nvSpPr>
        <p:spPr>
          <a:xfrm>
            <a:off x="8172450" y="3181350"/>
            <a:ext cx="14478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42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423"/>
                </a:solidFill>
                <a:latin typeface="Aptos"/>
                <a:ea typeface="Aptos"/>
                <a:cs typeface="Aptos"/>
              </a:rPr>
              <a:t>Hinge question: choose the solution and explain a common error.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7A930EF-E70F-4CAB-9F19-0A9FAF74A93A}"/>
              </a:ext>
            </a:extLst>
          </p:cNvPr>
          <p:cNvSpPr>
            <a:spLocks noGrp="1"/>
          </p:cNvSpPr>
          <p:nvPr/>
        </p:nvSpPr>
        <p:spPr>
          <a:xfrm>
            <a:off x="9886950" y="1981200"/>
            <a:ext cx="1752600" cy="2381250"/>
          </a:xfrm>
          <a:prstGeom prst="rect">
            <a:avLst/>
          </a:prstGeom>
          <a:solidFill>
            <a:srgbClr val="FFF3C4"/>
          </a:solidFill>
          <a:ln w="9525">
            <a:solidFill>
              <a:srgbClr val="D7E1DC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0FF1A46-DEA4-4646-AAC9-D2E6D2B02FFA}"/>
              </a:ext>
            </a:extLst>
          </p:cNvPr>
          <p:cNvSpPr>
            <a:spLocks noGrp="1"/>
          </p:cNvSpPr>
          <p:nvPr/>
        </p:nvSpPr>
        <p:spPr>
          <a:xfrm>
            <a:off x="9886950" y="1981200"/>
            <a:ext cx="1752600" cy="76200"/>
          </a:xfrm>
          <a:prstGeom prst="rect">
            <a:avLst/>
          </a:prstGeom>
          <a:solidFill>
            <a:srgbClr val="E2B8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616D73C-0DBE-48E3-883E-DD09E607D92A}"/>
              </a:ext>
            </a:extLst>
          </p:cNvPr>
          <p:cNvSpPr>
            <a:spLocks noGrp="1"/>
          </p:cNvSpPr>
          <p:nvPr/>
        </p:nvSpPr>
        <p:spPr>
          <a:xfrm>
            <a:off x="10039350" y="2247900"/>
            <a:ext cx="1447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60"/>
                </a:solidFill>
                <a:latin typeface="Aptos"/>
                <a:ea typeface="Aptos"/>
                <a:cs typeface="Aptos"/>
              </a:rPr>
              <a:t>56-60 min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9FC8F55-FD97-4676-A461-EA3EEA960A3C}"/>
              </a:ext>
            </a:extLst>
          </p:cNvPr>
          <p:cNvSpPr>
            <a:spLocks noGrp="1"/>
          </p:cNvSpPr>
          <p:nvPr/>
        </p:nvSpPr>
        <p:spPr>
          <a:xfrm>
            <a:off x="10039350" y="2552700"/>
            <a:ext cx="1447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rPr>
              <a:t>Exit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F8C881A-CBB3-466B-AEEB-7C980C3ED849}"/>
              </a:ext>
            </a:extLst>
          </p:cNvPr>
          <p:cNvSpPr>
            <a:spLocks noGrp="1"/>
          </p:cNvSpPr>
          <p:nvPr/>
        </p:nvSpPr>
        <p:spPr>
          <a:xfrm>
            <a:off x="10039350" y="2990850"/>
            <a:ext cx="1447800" cy="9525"/>
          </a:xfrm>
          <a:prstGeom prst="rect">
            <a:avLst/>
          </a:prstGeom>
          <a:solidFill>
            <a:srgbClr val="C7D2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C627207-1170-4087-BD40-D60593CEA9BF}"/>
              </a:ext>
            </a:extLst>
          </p:cNvPr>
          <p:cNvSpPr>
            <a:spLocks noGrp="1"/>
          </p:cNvSpPr>
          <p:nvPr/>
        </p:nvSpPr>
        <p:spPr>
          <a:xfrm>
            <a:off x="10039350" y="3181350"/>
            <a:ext cx="14478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42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423"/>
                </a:solidFill>
                <a:latin typeface="Aptos"/>
                <a:ea typeface="Aptos"/>
                <a:cs typeface="Aptos"/>
              </a:rPr>
              <a:t>One short problem plus: 'How would this look on a graph?'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4D90319-B847-4AC7-A0B5-8B9568F7C0EB}"/>
              </a:ext>
            </a:extLst>
          </p:cNvPr>
          <p:cNvSpPr>
            <a:spLocks noGrp="1"/>
          </p:cNvSpPr>
          <p:nvPr/>
        </p:nvSpPr>
        <p:spPr>
          <a:xfrm>
            <a:off x="933450" y="4953000"/>
            <a:ext cx="103251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CE8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D8586D1-4A1C-4BBB-BC4F-4A1FFC9CA6F2}"/>
              </a:ext>
            </a:extLst>
          </p:cNvPr>
          <p:cNvSpPr>
            <a:spLocks noGrp="1"/>
          </p:cNvSpPr>
          <p:nvPr/>
        </p:nvSpPr>
        <p:spPr>
          <a:xfrm>
            <a:off x="933450" y="4953000"/>
            <a:ext cx="76200" cy="876300"/>
          </a:xfrm>
          <a:prstGeom prst="rect">
            <a:avLst/>
          </a:prstGeom>
          <a:solidFill>
            <a:srgbClr val="247A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25BA663-797D-4B2D-BBE2-195456DB8523}"/>
              </a:ext>
            </a:extLst>
          </p:cNvPr>
          <p:cNvSpPr>
            <a:spLocks noGrp="1"/>
          </p:cNvSpPr>
          <p:nvPr/>
        </p:nvSpPr>
        <p:spPr>
          <a:xfrm>
            <a:off x="1238250" y="5162550"/>
            <a:ext cx="1952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242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423"/>
                </a:solidFill>
                <a:latin typeface="Aptos"/>
                <a:ea typeface="Aptos"/>
                <a:cs typeface="Aptos"/>
              </a:rPr>
              <a:t>Why this order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B2C22F4-9D71-45E5-BBDA-9B89941CFE1B}"/>
              </a:ext>
            </a:extLst>
          </p:cNvPr>
          <p:cNvSpPr>
            <a:spLocks noGrp="1"/>
          </p:cNvSpPr>
          <p:nvPr/>
        </p:nvSpPr>
        <p:spPr>
          <a:xfrm>
            <a:off x="3352800" y="5143500"/>
            <a:ext cx="747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60"/>
                </a:solidFill>
                <a:latin typeface="Aptos"/>
                <a:ea typeface="Aptos"/>
                <a:cs typeface="Aptos"/>
              </a:rPr>
              <a:t>Retrieval secures prerequisites, the graph gives meaning before procedure, and the hinge question catches misconceptions before pupils leave.</a:t>
            </a:r>
          </a:p>
        </p:txBody>
      </p:sp>
    </p:spTree>
    <p:extLst>
      <p:ext uri="{BB962C8B-B14F-4D97-AF65-F5344CB8AC3E}">
        <p14:creationId xmlns:p14="http://schemas.microsoft.com/office/powerpoint/2010/main" val="1417197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7835ADAC-18B8-49FF-825D-4B74D7EEA5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D0106D-F75F-423A-B392-CAFDCFEFF56C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0172700" cy="9525"/>
          </a:xfrm>
          <a:prstGeom prst="rect">
            <a:avLst/>
          </a:prstGeom>
          <a:solidFill>
            <a:srgbClr val="E6EC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3DDA96-02A3-4865-A947-DF0394564BF2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809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60"/>
                </a:solidFill>
                <a:latin typeface="Aptos"/>
                <a:ea typeface="Aptos"/>
                <a:cs typeface="Aptos"/>
              </a:rPr>
              <a:t>DfE National Curriculum, KS4 Mathematics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F44F1D-3C8E-4680-AB77-B045B91F90D5}"/>
              </a:ext>
            </a:extLst>
          </p:cNvPr>
          <p:cNvSpPr>
            <a:spLocks noGrp="1"/>
          </p:cNvSpPr>
          <p:nvPr/>
        </p:nvSpPr>
        <p:spPr>
          <a:xfrm>
            <a:off x="10858500" y="6429375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60"/>
                </a:solidFill>
                <a:latin typeface="Aptos"/>
                <a:ea typeface="Aptos"/>
                <a:cs typeface="Aptos"/>
              </a:rPr>
              <a:t>3/4</a:t>
            </a:r>
          </a:p>
        </p:txBody>
      </p:sp>
      <p:sp>
        <p:nvSpPr>
          <p:cNvPr id="5" name="kicker-3-marker">
            <a:extLst>
              <a:ext uri="{FF2B5EF4-FFF2-40B4-BE49-F238E27FC236}">
                <a16:creationId xmlns:a16="http://schemas.microsoft.com/office/drawing/2014/main" id="{A19229FB-5384-4CC7-A1A5-69EEB56FA3F3}"/>
              </a:ext>
            </a:extLst>
          </p:cNvPr>
          <p:cNvSpPr>
            <a:spLocks noGrp="1"/>
          </p:cNvSpPr>
          <p:nvPr/>
        </p:nvSpPr>
        <p:spPr>
          <a:xfrm>
            <a:off x="552450" y="514350"/>
            <a:ext cx="266700" cy="38100"/>
          </a:xfrm>
          <a:prstGeom prst="rect">
            <a:avLst/>
          </a:prstGeom>
          <a:solidFill>
            <a:srgbClr val="E2B8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3-label">
            <a:extLst>
              <a:ext uri="{FF2B5EF4-FFF2-40B4-BE49-F238E27FC236}">
                <a16:creationId xmlns:a16="http://schemas.microsoft.com/office/drawing/2014/main" id="{CFF701AC-116B-42D9-BEE5-1C3386D48127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60"/>
                </a:solidFill>
                <a:latin typeface="Aptos"/>
                <a:ea typeface="Aptos"/>
                <a:cs typeface="Aptos"/>
              </a:rPr>
              <a:t>ACTIVITIES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1BFC7F-97DB-4E5E-9B61-E6986CA2E633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9525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rPr>
              <a:t>Engagement comes from pupils making and testing the constraints.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C74C52-37F0-4760-9B49-1EB45F52D169}"/>
              </a:ext>
            </a:extLst>
          </p:cNvPr>
          <p:cNvSpPr>
            <a:spLocks noGrp="1"/>
          </p:cNvSpPr>
          <p:nvPr/>
        </p:nvSpPr>
        <p:spPr>
          <a:xfrm>
            <a:off x="552450" y="1771650"/>
            <a:ext cx="11087100" cy="800100"/>
          </a:xfrm>
          <a:prstGeom prst="rect">
            <a:avLst/>
          </a:prstGeom>
          <a:solidFill>
            <a:srgbClr val="24312F"/>
          </a:solidFill>
          <a:ln w="9525">
            <a:solidFill>
              <a:srgbClr val="24312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A7CB00-0EE0-45E3-A266-680B1666246C}"/>
              </a:ext>
            </a:extLst>
          </p:cNvPr>
          <p:cNvSpPr>
            <a:spLocks noGrp="1"/>
          </p:cNvSpPr>
          <p:nvPr/>
        </p:nvSpPr>
        <p:spPr>
          <a:xfrm>
            <a:off x="552450" y="1771650"/>
            <a:ext cx="95250" cy="800100"/>
          </a:xfrm>
          <a:prstGeom prst="rect">
            <a:avLst/>
          </a:prstGeom>
          <a:solidFill>
            <a:srgbClr val="E85D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5F6DB0A-76C9-4399-8E78-694E050686B1}"/>
              </a:ext>
            </a:extLst>
          </p:cNvPr>
          <p:cNvSpPr>
            <a:spLocks noGrp="1"/>
          </p:cNvSpPr>
          <p:nvPr/>
        </p:nvSpPr>
        <p:spPr>
          <a:xfrm>
            <a:off x="876300" y="1962150"/>
            <a:ext cx="990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One adult + one child ticket costs GBP 5. Two adults + one child costs GBP 8. What is each ticket price?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0F76FD5-94F1-4603-A4A6-1B45307D15CB}"/>
              </a:ext>
            </a:extLst>
          </p:cNvPr>
          <p:cNvSpPr>
            <a:spLocks noGrp="1"/>
          </p:cNvSpPr>
          <p:nvPr/>
        </p:nvSpPr>
        <p:spPr>
          <a:xfrm>
            <a:off x="552450" y="2990850"/>
            <a:ext cx="3352800" cy="1962150"/>
          </a:xfrm>
          <a:prstGeom prst="rect">
            <a:avLst/>
          </a:prstGeom>
          <a:solidFill>
            <a:srgbClr val="E3F3F0"/>
          </a:solidFill>
          <a:ln w="9525">
            <a:solidFill>
              <a:srgbClr val="D8E2DE"/>
            </a:solidFill>
            <a:prstDash val="solid"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5F37504-F96B-4405-A6F8-1399911A98E0}"/>
              </a:ext>
            </a:extLst>
          </p:cNvPr>
          <p:cNvSpPr>
            <a:spLocks noGrp="1"/>
          </p:cNvSpPr>
          <p:nvPr/>
        </p:nvSpPr>
        <p:spPr>
          <a:xfrm>
            <a:off x="714375" y="3152775"/>
            <a:ext cx="323850" cy="323850"/>
          </a:xfrm>
          <a:prstGeom prst="ellipse">
            <a:avLst/>
          </a:prstGeom>
          <a:solidFill>
            <a:srgbClr val="247A73"/>
          </a:solidFill>
          <a:ln w="19050">
            <a:solidFill>
              <a:srgbClr val="247A73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108440E-FE2B-4300-A762-696FEB0EEFE9}"/>
              </a:ext>
            </a:extLst>
          </p:cNvPr>
          <p:cNvSpPr>
            <a:spLocks noGrp="1"/>
          </p:cNvSpPr>
          <p:nvPr/>
        </p:nvSpPr>
        <p:spPr>
          <a:xfrm>
            <a:off x="781050" y="321945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36F293E-4787-4F09-B92F-459AFE69DD7C}"/>
              </a:ext>
            </a:extLst>
          </p:cNvPr>
          <p:cNvSpPr>
            <a:spLocks noGrp="1"/>
          </p:cNvSpPr>
          <p:nvPr/>
        </p:nvSpPr>
        <p:spPr>
          <a:xfrm>
            <a:off x="1200150" y="316230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rPr>
              <a:t>See it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3B2520-5E89-4351-8C68-7194914E1A4C}"/>
              </a:ext>
            </a:extLst>
          </p:cNvPr>
          <p:cNvSpPr>
            <a:spLocks noGrp="1"/>
          </p:cNvSpPr>
          <p:nvPr/>
        </p:nvSpPr>
        <p:spPr>
          <a:xfrm>
            <a:off x="819150" y="3676650"/>
            <a:ext cx="27813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42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423"/>
                </a:solidFill>
                <a:latin typeface="Aptos"/>
                <a:ea typeface="Aptos"/>
                <a:cs typeface="Aptos"/>
              </a:rPr>
              <a:t>Test points against both equations, then locate the shared point on a graph.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7A00C2-98EA-4B7F-9F61-34E2CA8D840F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2781300" cy="9525"/>
          </a:xfrm>
          <a:prstGeom prst="rect">
            <a:avLst/>
          </a:prstGeom>
          <a:solidFill>
            <a:srgbClr val="C9D4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B66A46-1D83-49BE-9EC8-C113440B0ACB}"/>
              </a:ext>
            </a:extLst>
          </p:cNvPr>
          <p:cNvSpPr>
            <a:spLocks noGrp="1"/>
          </p:cNvSpPr>
          <p:nvPr/>
        </p:nvSpPr>
        <p:spPr>
          <a:xfrm>
            <a:off x="819150" y="4533900"/>
            <a:ext cx="2781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60"/>
                </a:solidFill>
                <a:latin typeface="Aptos"/>
                <a:ea typeface="Aptos"/>
                <a:cs typeface="Aptos"/>
              </a:rPr>
              <a:t>Resource: printed axes or Desmos/GeoGebra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DD28C56-9318-402E-8B13-7CB6A947935C}"/>
              </a:ext>
            </a:extLst>
          </p:cNvPr>
          <p:cNvSpPr>
            <a:spLocks noGrp="1"/>
          </p:cNvSpPr>
          <p:nvPr/>
        </p:nvSpPr>
        <p:spPr>
          <a:xfrm>
            <a:off x="4248150" y="2990850"/>
            <a:ext cx="3352800" cy="1962150"/>
          </a:xfrm>
          <a:prstGeom prst="rect">
            <a:avLst/>
          </a:prstGeom>
          <a:solidFill>
            <a:srgbClr val="FCE6E1"/>
          </a:solidFill>
          <a:ln w="9525">
            <a:solidFill>
              <a:srgbClr val="D8E2DE"/>
            </a:solidFill>
            <a:prstDash val="solid"/>
          </a:ln>
        </p:spPr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996FC33-95DA-4C29-8614-86589213DFA3}"/>
              </a:ext>
            </a:extLst>
          </p:cNvPr>
          <p:cNvSpPr>
            <a:spLocks noGrp="1"/>
          </p:cNvSpPr>
          <p:nvPr/>
        </p:nvSpPr>
        <p:spPr>
          <a:xfrm>
            <a:off x="4410075" y="3152775"/>
            <a:ext cx="323850" cy="323850"/>
          </a:xfrm>
          <a:prstGeom prst="ellipse">
            <a:avLst/>
          </a:prstGeom>
          <a:solidFill>
            <a:srgbClr val="E85D4A"/>
          </a:solidFill>
          <a:ln w="19050">
            <a:solidFill>
              <a:srgbClr val="E85D4A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42D9072-4F24-49C9-AD64-D6927F13AFC2}"/>
              </a:ext>
            </a:extLst>
          </p:cNvPr>
          <p:cNvSpPr>
            <a:spLocks noGrp="1"/>
          </p:cNvSpPr>
          <p:nvPr/>
        </p:nvSpPr>
        <p:spPr>
          <a:xfrm>
            <a:off x="4476750" y="321945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2D62654-4B95-4AC9-B8B3-0C51D3EBA762}"/>
              </a:ext>
            </a:extLst>
          </p:cNvPr>
          <p:cNvSpPr>
            <a:spLocks noGrp="1"/>
          </p:cNvSpPr>
          <p:nvPr/>
        </p:nvSpPr>
        <p:spPr>
          <a:xfrm>
            <a:off x="4895850" y="316230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rPr>
              <a:t>Say it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2705448-D52D-4D9B-AB99-C592DB1836F8}"/>
              </a:ext>
            </a:extLst>
          </p:cNvPr>
          <p:cNvSpPr>
            <a:spLocks noGrp="1"/>
          </p:cNvSpPr>
          <p:nvPr/>
        </p:nvSpPr>
        <p:spPr>
          <a:xfrm>
            <a:off x="4514850" y="3676650"/>
            <a:ext cx="27813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42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423"/>
                </a:solidFill>
                <a:latin typeface="Aptos"/>
                <a:ea typeface="Aptos"/>
                <a:cs typeface="Aptos"/>
              </a:rPr>
              <a:t>Pairs explain why a point can satisfy one equation but still fail the system.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BF45B2B-38EB-48B2-BDEB-E09D9DBA9780}"/>
              </a:ext>
            </a:extLst>
          </p:cNvPr>
          <p:cNvSpPr>
            <a:spLocks noGrp="1"/>
          </p:cNvSpPr>
          <p:nvPr/>
        </p:nvSpPr>
        <p:spPr>
          <a:xfrm>
            <a:off x="4514850" y="4419600"/>
            <a:ext cx="2781300" cy="9525"/>
          </a:xfrm>
          <a:prstGeom prst="rect">
            <a:avLst/>
          </a:prstGeom>
          <a:solidFill>
            <a:srgbClr val="C9D4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DB0943D-8B34-4052-B4A9-5E4AB79927B2}"/>
              </a:ext>
            </a:extLst>
          </p:cNvPr>
          <p:cNvSpPr>
            <a:spLocks noGrp="1"/>
          </p:cNvSpPr>
          <p:nvPr/>
        </p:nvSpPr>
        <p:spPr>
          <a:xfrm>
            <a:off x="4514850" y="4533900"/>
            <a:ext cx="2781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60"/>
                </a:solidFill>
                <a:latin typeface="Aptos"/>
                <a:ea typeface="Aptos"/>
                <a:cs typeface="Aptos"/>
              </a:rPr>
              <a:t>Resource: sentence stem and mini-whiteboards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C531C87-A4D0-49A1-9233-2165F35AB9E7}"/>
              </a:ext>
            </a:extLst>
          </p:cNvPr>
          <p:cNvSpPr>
            <a:spLocks noGrp="1"/>
          </p:cNvSpPr>
          <p:nvPr/>
        </p:nvSpPr>
        <p:spPr>
          <a:xfrm>
            <a:off x="7943850" y="2990850"/>
            <a:ext cx="3352800" cy="1962150"/>
          </a:xfrm>
          <a:prstGeom prst="rect">
            <a:avLst/>
          </a:prstGeom>
          <a:solidFill>
            <a:srgbClr val="FFF3C4"/>
          </a:solidFill>
          <a:ln w="9525">
            <a:solidFill>
              <a:srgbClr val="D8E2DE"/>
            </a:solidFill>
            <a:prstDash val="solid"/>
          </a:ln>
        </p:spPr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5082B4AF-B87D-4EA0-BF2C-E0EE40649BE6}"/>
              </a:ext>
            </a:extLst>
          </p:cNvPr>
          <p:cNvSpPr>
            <a:spLocks noGrp="1"/>
          </p:cNvSpPr>
          <p:nvPr/>
        </p:nvSpPr>
        <p:spPr>
          <a:xfrm>
            <a:off x="8105775" y="3152775"/>
            <a:ext cx="323850" cy="323850"/>
          </a:xfrm>
          <a:prstGeom prst="ellipse">
            <a:avLst/>
          </a:prstGeom>
          <a:solidFill>
            <a:srgbClr val="E2B84C"/>
          </a:solidFill>
          <a:ln w="19050">
            <a:solidFill>
              <a:srgbClr val="E2B84C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E031E52-32BF-4BBE-8AEC-901B78EBB01B}"/>
              </a:ext>
            </a:extLst>
          </p:cNvPr>
          <p:cNvSpPr>
            <a:spLocks noGrp="1"/>
          </p:cNvSpPr>
          <p:nvPr/>
        </p:nvSpPr>
        <p:spPr>
          <a:xfrm>
            <a:off x="8172450" y="321945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5E879D-CBB2-4B89-B4AE-815A4EA01ECE}"/>
              </a:ext>
            </a:extLst>
          </p:cNvPr>
          <p:cNvSpPr>
            <a:spLocks noGrp="1"/>
          </p:cNvSpPr>
          <p:nvPr/>
        </p:nvSpPr>
        <p:spPr>
          <a:xfrm>
            <a:off x="8591550" y="316230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rPr>
              <a:t>Do it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C4603D-DD85-4F08-96B7-8D465BB901CA}"/>
              </a:ext>
            </a:extLst>
          </p:cNvPr>
          <p:cNvSpPr>
            <a:spLocks noGrp="1"/>
          </p:cNvSpPr>
          <p:nvPr/>
        </p:nvSpPr>
        <p:spPr>
          <a:xfrm>
            <a:off x="8210550" y="3676650"/>
            <a:ext cx="27813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42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423"/>
                </a:solidFill>
                <a:latin typeface="Aptos"/>
                <a:ea typeface="Aptos"/>
                <a:cs typeface="Aptos"/>
              </a:rPr>
              <a:t>Use elimination to solve, then interpret x and y in the ticket context.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1091A9-9D56-4D7B-9AB5-72D0C39BAEA4}"/>
              </a:ext>
            </a:extLst>
          </p:cNvPr>
          <p:cNvSpPr>
            <a:spLocks noGrp="1"/>
          </p:cNvSpPr>
          <p:nvPr/>
        </p:nvSpPr>
        <p:spPr>
          <a:xfrm>
            <a:off x="8210550" y="4419600"/>
            <a:ext cx="2781300" cy="9525"/>
          </a:xfrm>
          <a:prstGeom prst="rect">
            <a:avLst/>
          </a:prstGeom>
          <a:solidFill>
            <a:srgbClr val="C9D4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2F2123F-D6CE-461E-BC59-1C033AC2D3A1}"/>
              </a:ext>
            </a:extLst>
          </p:cNvPr>
          <p:cNvSpPr>
            <a:spLocks noGrp="1"/>
          </p:cNvSpPr>
          <p:nvPr/>
        </p:nvSpPr>
        <p:spPr>
          <a:xfrm>
            <a:off x="8210550" y="4533900"/>
            <a:ext cx="2781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60"/>
                </a:solidFill>
                <a:latin typeface="Aptos"/>
                <a:ea typeface="Aptos"/>
                <a:cs typeface="Aptos"/>
              </a:rPr>
              <a:t>Resource: equation cards and exit slip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D3F9FA3-B2FE-4CD7-8696-4BAF9FB83253}"/>
              </a:ext>
            </a:extLst>
          </p:cNvPr>
          <p:cNvSpPr>
            <a:spLocks noGrp="1"/>
          </p:cNvSpPr>
          <p:nvPr/>
        </p:nvSpPr>
        <p:spPr>
          <a:xfrm>
            <a:off x="1314450" y="5029200"/>
            <a:ext cx="1123950" cy="304800"/>
          </a:xfrm>
          <a:prstGeom prst="rect">
            <a:avLst/>
          </a:prstGeom>
          <a:solidFill>
            <a:srgbClr val="24312F"/>
          </a:solidFill>
          <a:ln w="9525">
            <a:solidFill>
              <a:srgbClr val="24312F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7CD28AE-7000-4DC4-8027-7351F45B8B21}"/>
              </a:ext>
            </a:extLst>
          </p:cNvPr>
          <p:cNvSpPr>
            <a:spLocks noGrp="1"/>
          </p:cNvSpPr>
          <p:nvPr/>
        </p:nvSpPr>
        <p:spPr>
          <a:xfrm>
            <a:off x="1390650" y="5114925"/>
            <a:ext cx="971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Point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E428199-9B4D-4500-8380-102F60076821}"/>
              </a:ext>
            </a:extLst>
          </p:cNvPr>
          <p:cNvSpPr>
            <a:spLocks noGrp="1"/>
          </p:cNvSpPr>
          <p:nvPr/>
        </p:nvSpPr>
        <p:spPr>
          <a:xfrm>
            <a:off x="2438400" y="5029200"/>
            <a:ext cx="1066800" cy="304800"/>
          </a:xfrm>
          <a:prstGeom prst="rect">
            <a:avLst/>
          </a:prstGeom>
          <a:solidFill>
            <a:srgbClr val="24312F"/>
          </a:solidFill>
          <a:ln w="9525">
            <a:solidFill>
              <a:srgbClr val="24312F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0C61F06-5901-4E42-86B1-8534031B5A4D}"/>
              </a:ext>
            </a:extLst>
          </p:cNvPr>
          <p:cNvSpPr>
            <a:spLocks noGrp="1"/>
          </p:cNvSpPr>
          <p:nvPr/>
        </p:nvSpPr>
        <p:spPr>
          <a:xfrm>
            <a:off x="2514600" y="5114925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x + y = 5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1CE5A9B-3968-4983-9DF6-E0D12F49EB72}"/>
              </a:ext>
            </a:extLst>
          </p:cNvPr>
          <p:cNvSpPr>
            <a:spLocks noGrp="1"/>
          </p:cNvSpPr>
          <p:nvPr/>
        </p:nvSpPr>
        <p:spPr>
          <a:xfrm>
            <a:off x="3505200" y="5029200"/>
            <a:ext cx="1200150" cy="304800"/>
          </a:xfrm>
          <a:prstGeom prst="rect">
            <a:avLst/>
          </a:prstGeom>
          <a:solidFill>
            <a:srgbClr val="24312F"/>
          </a:solidFill>
          <a:ln w="9525">
            <a:solidFill>
              <a:srgbClr val="24312F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4CEC85F-E664-4BDD-BC31-91B460C5EF05}"/>
              </a:ext>
            </a:extLst>
          </p:cNvPr>
          <p:cNvSpPr>
            <a:spLocks noGrp="1"/>
          </p:cNvSpPr>
          <p:nvPr/>
        </p:nvSpPr>
        <p:spPr>
          <a:xfrm>
            <a:off x="3581400" y="51149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2x + y = 8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69FC684-294A-4245-8DB0-AC6E03179314}"/>
              </a:ext>
            </a:extLst>
          </p:cNvPr>
          <p:cNvSpPr>
            <a:spLocks noGrp="1"/>
          </p:cNvSpPr>
          <p:nvPr/>
        </p:nvSpPr>
        <p:spPr>
          <a:xfrm>
            <a:off x="1314450" y="5334000"/>
            <a:ext cx="11239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CE8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8FC58F8-8102-465B-9CA0-0C621EF5F556}"/>
              </a:ext>
            </a:extLst>
          </p:cNvPr>
          <p:cNvSpPr>
            <a:spLocks noGrp="1"/>
          </p:cNvSpPr>
          <p:nvPr/>
        </p:nvSpPr>
        <p:spPr>
          <a:xfrm>
            <a:off x="1390650" y="5410200"/>
            <a:ext cx="971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5B646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B6460"/>
                </a:solidFill>
                <a:latin typeface="Aptos Mono"/>
                <a:ea typeface="Aptos Mono"/>
                <a:cs typeface="Aptos Mono"/>
              </a:rPr>
              <a:t>(2, 3)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B5C93AF-6CE0-4198-94A3-8FE7BE22CF1E}"/>
              </a:ext>
            </a:extLst>
          </p:cNvPr>
          <p:cNvSpPr>
            <a:spLocks noGrp="1"/>
          </p:cNvSpPr>
          <p:nvPr/>
        </p:nvSpPr>
        <p:spPr>
          <a:xfrm>
            <a:off x="2438400" y="5334000"/>
            <a:ext cx="1066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CE8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2566591-13ED-4365-89D3-57AE48281BF5}"/>
              </a:ext>
            </a:extLst>
          </p:cNvPr>
          <p:cNvSpPr>
            <a:spLocks noGrp="1"/>
          </p:cNvSpPr>
          <p:nvPr/>
        </p:nvSpPr>
        <p:spPr>
          <a:xfrm>
            <a:off x="2514600" y="5410200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B6460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B6460"/>
                </a:solidFill>
                <a:latin typeface="Aptos Mono"/>
                <a:ea typeface="Aptos Mono"/>
                <a:cs typeface="Aptos Mono"/>
              </a:rPr>
              <a:t>yes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C3B7E59-256A-4CD9-8D03-74DF41FDF271}"/>
              </a:ext>
            </a:extLst>
          </p:cNvPr>
          <p:cNvSpPr>
            <a:spLocks noGrp="1"/>
          </p:cNvSpPr>
          <p:nvPr/>
        </p:nvSpPr>
        <p:spPr>
          <a:xfrm>
            <a:off x="3505200" y="5334000"/>
            <a:ext cx="12001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CE8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9C256FB-D2AD-4999-A91A-97894C4A6889}"/>
              </a:ext>
            </a:extLst>
          </p:cNvPr>
          <p:cNvSpPr>
            <a:spLocks noGrp="1"/>
          </p:cNvSpPr>
          <p:nvPr/>
        </p:nvSpPr>
        <p:spPr>
          <a:xfrm>
            <a:off x="3581400" y="54102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B6460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B6460"/>
                </a:solidFill>
                <a:latin typeface="Aptos Mono"/>
                <a:ea typeface="Aptos Mono"/>
                <a:cs typeface="Aptos Mono"/>
              </a:rPr>
              <a:t>no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87CF98B-02B6-4546-A9C3-7BB3CF885672}"/>
              </a:ext>
            </a:extLst>
          </p:cNvPr>
          <p:cNvSpPr>
            <a:spLocks noGrp="1"/>
          </p:cNvSpPr>
          <p:nvPr/>
        </p:nvSpPr>
        <p:spPr>
          <a:xfrm>
            <a:off x="1314450" y="5638800"/>
            <a:ext cx="11239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CE8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83DB5D5-1DCB-410E-873A-06E7D280C2B0}"/>
              </a:ext>
            </a:extLst>
          </p:cNvPr>
          <p:cNvSpPr>
            <a:spLocks noGrp="1"/>
          </p:cNvSpPr>
          <p:nvPr/>
        </p:nvSpPr>
        <p:spPr>
          <a:xfrm>
            <a:off x="1390650" y="5715000"/>
            <a:ext cx="971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5B646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B6460"/>
                </a:solidFill>
                <a:latin typeface="Aptos Mono"/>
                <a:ea typeface="Aptos Mono"/>
                <a:cs typeface="Aptos Mono"/>
              </a:rPr>
              <a:t>(3, 2)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F37348F-6B6D-438A-B72C-05AE4474C066}"/>
              </a:ext>
            </a:extLst>
          </p:cNvPr>
          <p:cNvSpPr>
            <a:spLocks noGrp="1"/>
          </p:cNvSpPr>
          <p:nvPr/>
        </p:nvSpPr>
        <p:spPr>
          <a:xfrm>
            <a:off x="2438400" y="5638800"/>
            <a:ext cx="1066800" cy="304800"/>
          </a:xfrm>
          <a:prstGeom prst="rect">
            <a:avLst/>
          </a:prstGeom>
          <a:solidFill>
            <a:srgbClr val="FFF3C4"/>
          </a:solidFill>
          <a:ln w="9525">
            <a:solidFill>
              <a:srgbClr val="E6ECE8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8D6AC8F-C0B5-4576-B33D-14B17464DD75}"/>
              </a:ext>
            </a:extLst>
          </p:cNvPr>
          <p:cNvSpPr>
            <a:spLocks noGrp="1"/>
          </p:cNvSpPr>
          <p:nvPr/>
        </p:nvSpPr>
        <p:spPr>
          <a:xfrm>
            <a:off x="2514600" y="5715000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82423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82423"/>
                </a:solidFill>
                <a:latin typeface="Aptos Mono"/>
                <a:ea typeface="Aptos Mono"/>
                <a:cs typeface="Aptos Mono"/>
              </a:rPr>
              <a:t>yes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53D3D34-D21A-4342-AFE5-8EE740581B35}"/>
              </a:ext>
            </a:extLst>
          </p:cNvPr>
          <p:cNvSpPr>
            <a:spLocks noGrp="1"/>
          </p:cNvSpPr>
          <p:nvPr/>
        </p:nvSpPr>
        <p:spPr>
          <a:xfrm>
            <a:off x="3505200" y="5638800"/>
            <a:ext cx="1200150" cy="304800"/>
          </a:xfrm>
          <a:prstGeom prst="rect">
            <a:avLst/>
          </a:prstGeom>
          <a:solidFill>
            <a:srgbClr val="FFF3C4"/>
          </a:solidFill>
          <a:ln w="9525">
            <a:solidFill>
              <a:srgbClr val="E6ECE8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BEDC229-4ED5-4FA3-850A-3D21839B702E}"/>
              </a:ext>
            </a:extLst>
          </p:cNvPr>
          <p:cNvSpPr>
            <a:spLocks noGrp="1"/>
          </p:cNvSpPr>
          <p:nvPr/>
        </p:nvSpPr>
        <p:spPr>
          <a:xfrm>
            <a:off x="3581400" y="57150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82423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82423"/>
                </a:solidFill>
                <a:latin typeface="Aptos Mono"/>
                <a:ea typeface="Aptos Mono"/>
                <a:cs typeface="Aptos Mono"/>
              </a:rPr>
              <a:t>yes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4B4AEB4-2F21-405C-8A9F-B46B64CB7EED}"/>
              </a:ext>
            </a:extLst>
          </p:cNvPr>
          <p:cNvSpPr>
            <a:spLocks noGrp="1"/>
          </p:cNvSpPr>
          <p:nvPr/>
        </p:nvSpPr>
        <p:spPr>
          <a:xfrm>
            <a:off x="1314450" y="5943600"/>
            <a:ext cx="11239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CE8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E2A8493-D40A-484C-AB50-EF67771BC39F}"/>
              </a:ext>
            </a:extLst>
          </p:cNvPr>
          <p:cNvSpPr>
            <a:spLocks noGrp="1"/>
          </p:cNvSpPr>
          <p:nvPr/>
        </p:nvSpPr>
        <p:spPr>
          <a:xfrm>
            <a:off x="1390650" y="6019800"/>
            <a:ext cx="971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5B646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B6460"/>
                </a:solidFill>
                <a:latin typeface="Aptos Mono"/>
                <a:ea typeface="Aptos Mono"/>
                <a:cs typeface="Aptos Mono"/>
              </a:rPr>
              <a:t>(4, 1)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29EDF8F-7ACD-42B4-A990-9691614E1900}"/>
              </a:ext>
            </a:extLst>
          </p:cNvPr>
          <p:cNvSpPr>
            <a:spLocks noGrp="1"/>
          </p:cNvSpPr>
          <p:nvPr/>
        </p:nvSpPr>
        <p:spPr>
          <a:xfrm>
            <a:off x="2438400" y="5943600"/>
            <a:ext cx="1066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CE8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17BCFC6-2D91-418E-9D41-755B8B1B83EE}"/>
              </a:ext>
            </a:extLst>
          </p:cNvPr>
          <p:cNvSpPr>
            <a:spLocks noGrp="1"/>
          </p:cNvSpPr>
          <p:nvPr/>
        </p:nvSpPr>
        <p:spPr>
          <a:xfrm>
            <a:off x="2514600" y="6019800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B6460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B6460"/>
                </a:solidFill>
                <a:latin typeface="Aptos Mono"/>
                <a:ea typeface="Aptos Mono"/>
                <a:cs typeface="Aptos Mono"/>
              </a:rPr>
              <a:t>yes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A935E87-617D-47FF-A778-2710675E89B9}"/>
              </a:ext>
            </a:extLst>
          </p:cNvPr>
          <p:cNvSpPr>
            <a:spLocks noGrp="1"/>
          </p:cNvSpPr>
          <p:nvPr/>
        </p:nvSpPr>
        <p:spPr>
          <a:xfrm>
            <a:off x="3505200" y="5943600"/>
            <a:ext cx="12001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CE8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C011A5C-13B0-4EEF-BF50-3B9DEC9AE0A7}"/>
              </a:ext>
            </a:extLst>
          </p:cNvPr>
          <p:cNvSpPr>
            <a:spLocks noGrp="1"/>
          </p:cNvSpPr>
          <p:nvPr/>
        </p:nvSpPr>
        <p:spPr>
          <a:xfrm>
            <a:off x="3581400" y="60198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B6460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B6460"/>
                </a:solidFill>
                <a:latin typeface="Aptos Mono"/>
                <a:ea typeface="Aptos Mono"/>
                <a:cs typeface="Aptos Mono"/>
              </a:rPr>
              <a:t>no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F02516A-99F8-4C0C-A23C-0347D53936F4}"/>
              </a:ext>
            </a:extLst>
          </p:cNvPr>
          <p:cNvSpPr>
            <a:spLocks noGrp="1"/>
          </p:cNvSpPr>
          <p:nvPr/>
        </p:nvSpPr>
        <p:spPr>
          <a:xfrm>
            <a:off x="5410200" y="5257800"/>
            <a:ext cx="4953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4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423"/>
                </a:solidFill>
                <a:latin typeface="Aptos"/>
                <a:ea typeface="Aptos"/>
                <a:cs typeface="Aptos"/>
              </a:rPr>
              <a:t>Pupils see the same idea three ways: table, graph, and equations.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706AF8B-7FB8-400D-A762-B377F05E6D07}"/>
              </a:ext>
            </a:extLst>
          </p:cNvPr>
          <p:cNvSpPr>
            <a:spLocks noGrp="1"/>
          </p:cNvSpPr>
          <p:nvPr/>
        </p:nvSpPr>
        <p:spPr>
          <a:xfrm>
            <a:off x="5410200" y="579120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60"/>
                </a:solidFill>
                <a:latin typeface="Aptos"/>
                <a:ea typeface="Aptos"/>
                <a:cs typeface="Aptos"/>
              </a:rPr>
              <a:t>That makes the later symbolic method less arbitrary.</a:t>
            </a:r>
          </a:p>
        </p:txBody>
      </p:sp>
    </p:spTree>
    <p:extLst>
      <p:ext uri="{BB962C8B-B14F-4D97-AF65-F5344CB8AC3E}">
        <p14:creationId xmlns:p14="http://schemas.microsoft.com/office/powerpoint/2010/main" val="792798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F84A25B5-E333-43FC-9614-6B9CFA8DFF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D4FEA68-5CF3-4326-8D1A-9DC65045AFCB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0172700" cy="9525"/>
          </a:xfrm>
          <a:prstGeom prst="rect">
            <a:avLst/>
          </a:prstGeom>
          <a:solidFill>
            <a:srgbClr val="E6EC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A0A5F1-2400-4BAC-95FE-A8F37124738A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809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60"/>
                </a:solidFill>
                <a:latin typeface="Aptos"/>
                <a:ea typeface="Aptos"/>
                <a:cs typeface="Aptos"/>
              </a:rPr>
              <a:t>GOV.UK National Curriculum KS4: fluency, reasoning, problem solving, and KS4 Algebra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D5D9B8-3061-41CB-B861-360BCE15DC08}"/>
              </a:ext>
            </a:extLst>
          </p:cNvPr>
          <p:cNvSpPr>
            <a:spLocks noGrp="1"/>
          </p:cNvSpPr>
          <p:nvPr/>
        </p:nvSpPr>
        <p:spPr>
          <a:xfrm>
            <a:off x="10858500" y="6429375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60"/>
                </a:solidFill>
                <a:latin typeface="Aptos"/>
                <a:ea typeface="Aptos"/>
                <a:cs typeface="Aptos"/>
              </a:rPr>
              <a:t>4/4</a:t>
            </a:r>
          </a:p>
        </p:txBody>
      </p:sp>
      <p:sp>
        <p:nvSpPr>
          <p:cNvPr id="5" name="kicker-4-marker">
            <a:extLst>
              <a:ext uri="{FF2B5EF4-FFF2-40B4-BE49-F238E27FC236}">
                <a16:creationId xmlns:a16="http://schemas.microsoft.com/office/drawing/2014/main" id="{EA4602A9-0BD0-4BC4-9732-6F236B662FBF}"/>
              </a:ext>
            </a:extLst>
          </p:cNvPr>
          <p:cNvSpPr>
            <a:spLocks noGrp="1"/>
          </p:cNvSpPr>
          <p:nvPr/>
        </p:nvSpPr>
        <p:spPr>
          <a:xfrm>
            <a:off x="552450" y="514350"/>
            <a:ext cx="266700" cy="38100"/>
          </a:xfrm>
          <a:prstGeom prst="rect">
            <a:avLst/>
          </a:prstGeom>
          <a:solidFill>
            <a:srgbClr val="247A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4-label">
            <a:extLst>
              <a:ext uri="{FF2B5EF4-FFF2-40B4-BE49-F238E27FC236}">
                <a16:creationId xmlns:a16="http://schemas.microsoft.com/office/drawing/2014/main" id="{AEA07376-4EAC-4462-AC41-7A251FB6C26C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60"/>
                </a:solidFill>
                <a:latin typeface="Aptos"/>
                <a:ea typeface="Aptos"/>
                <a:cs typeface="Aptos"/>
              </a:rPr>
              <a:t>ASSESSMENT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F2EF16-AC68-498F-B590-8C1E0491BD4D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990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rPr>
              <a:t>I would check whether pupils know why the method works, not just the answer.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AB9036-8806-442C-8822-DBAD585D2281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512445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CE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43B2AC5-AE69-48EB-9792-9CD54F91533B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76200" cy="3333750"/>
          </a:xfrm>
          <a:prstGeom prst="rect">
            <a:avLst/>
          </a:prstGeom>
          <a:solidFill>
            <a:srgbClr val="E85D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DF2C69-F1CF-43C3-B865-1DB396733B9B}"/>
              </a:ext>
            </a:extLst>
          </p:cNvPr>
          <p:cNvSpPr>
            <a:spLocks noGrp="1"/>
          </p:cNvSpPr>
          <p:nvPr/>
        </p:nvSpPr>
        <p:spPr>
          <a:xfrm>
            <a:off x="857250" y="21145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423"/>
                </a:solidFill>
                <a:latin typeface="Aptos Display"/>
                <a:ea typeface="Aptos Display"/>
                <a:cs typeface="Aptos Display"/>
              </a:rPr>
              <a:t>Hinge question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23ED1F3-08B4-4EE2-9395-17AE7065BFC4}"/>
              </a:ext>
            </a:extLst>
          </p:cNvPr>
          <p:cNvSpPr>
            <a:spLocks noGrp="1"/>
          </p:cNvSpPr>
          <p:nvPr/>
        </p:nvSpPr>
        <p:spPr>
          <a:xfrm>
            <a:off x="857250" y="25336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60"/>
                </a:solidFill>
                <a:latin typeface="Aptos"/>
                <a:ea typeface="Aptos"/>
                <a:cs typeface="Aptos"/>
              </a:rPr>
              <a:t>Which point solves both equations?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EBD6C62-A54A-4358-B133-381494B3EB1F}"/>
              </a:ext>
            </a:extLst>
          </p:cNvPr>
          <p:cNvSpPr>
            <a:spLocks noGrp="1"/>
          </p:cNvSpPr>
          <p:nvPr/>
        </p:nvSpPr>
        <p:spPr>
          <a:xfrm>
            <a:off x="857250" y="2971800"/>
            <a:ext cx="2286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82423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182423"/>
                </a:solidFill>
                <a:latin typeface="Aptos Mono"/>
                <a:ea typeface="Aptos Mono"/>
                <a:cs typeface="Aptos Mono"/>
              </a:rPr>
              <a:t>x + y = 5</a:t>
            </a:r>
          </a:p>
          <a:p>
            <a:pPr algn="l">
              <a:defRPr sz="1875" b="1">
                <a:solidFill>
                  <a:srgbClr val="182423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182423"/>
                </a:solidFill>
                <a:latin typeface="Aptos Mono"/>
                <a:ea typeface="Aptos Mono"/>
                <a:cs typeface="Aptos Mono"/>
              </a:rPr>
              <a:t>2x + y = 8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1C3C18-AAE4-4B51-B346-83FB366CE114}"/>
              </a:ext>
            </a:extLst>
          </p:cNvPr>
          <p:cNvSpPr>
            <a:spLocks noGrp="1"/>
          </p:cNvSpPr>
          <p:nvPr/>
        </p:nvSpPr>
        <p:spPr>
          <a:xfrm>
            <a:off x="3238500" y="2914650"/>
            <a:ext cx="838200" cy="457200"/>
          </a:xfrm>
          <a:prstGeom prst="rect">
            <a:avLst/>
          </a:prstGeom>
          <a:solidFill>
            <a:srgbClr val="F7F8F4"/>
          </a:solidFill>
          <a:ln w="9525">
            <a:solidFill>
              <a:srgbClr val="E6ECE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8DD16E0-8DDD-4F95-B05B-7F655A939ECA}"/>
              </a:ext>
            </a:extLst>
          </p:cNvPr>
          <p:cNvSpPr>
            <a:spLocks noGrp="1"/>
          </p:cNvSpPr>
          <p:nvPr/>
        </p:nvSpPr>
        <p:spPr>
          <a:xfrm>
            <a:off x="3314700" y="3038475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60"/>
                </a:solidFill>
                <a:latin typeface="Aptos"/>
                <a:ea typeface="Aptos"/>
                <a:cs typeface="Aptos"/>
              </a:rPr>
              <a:t>A   (2, 3)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C909C2-5B56-4A99-A5BA-A07034FA9832}"/>
              </a:ext>
            </a:extLst>
          </p:cNvPr>
          <p:cNvSpPr>
            <a:spLocks noGrp="1"/>
          </p:cNvSpPr>
          <p:nvPr/>
        </p:nvSpPr>
        <p:spPr>
          <a:xfrm>
            <a:off x="4305300" y="2914650"/>
            <a:ext cx="838200" cy="457200"/>
          </a:xfrm>
          <a:prstGeom prst="rect">
            <a:avLst/>
          </a:prstGeom>
          <a:solidFill>
            <a:srgbClr val="FFF3C4"/>
          </a:solidFill>
          <a:ln w="9525">
            <a:solidFill>
              <a:srgbClr val="E2B84C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63A7929-903C-4013-8660-78BB1642EA7A}"/>
              </a:ext>
            </a:extLst>
          </p:cNvPr>
          <p:cNvSpPr>
            <a:spLocks noGrp="1"/>
          </p:cNvSpPr>
          <p:nvPr/>
        </p:nvSpPr>
        <p:spPr>
          <a:xfrm>
            <a:off x="4381500" y="3038475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8242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423"/>
                </a:solidFill>
                <a:latin typeface="Aptos"/>
                <a:ea typeface="Aptos"/>
                <a:cs typeface="Aptos"/>
              </a:rPr>
              <a:t>B   (3, 2)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6061DF-13C5-4DCE-91AF-6CD53777AE86}"/>
              </a:ext>
            </a:extLst>
          </p:cNvPr>
          <p:cNvSpPr>
            <a:spLocks noGrp="1"/>
          </p:cNvSpPr>
          <p:nvPr/>
        </p:nvSpPr>
        <p:spPr>
          <a:xfrm>
            <a:off x="3238500" y="3638550"/>
            <a:ext cx="838200" cy="457200"/>
          </a:xfrm>
          <a:prstGeom prst="rect">
            <a:avLst/>
          </a:prstGeom>
          <a:solidFill>
            <a:srgbClr val="F7F8F4"/>
          </a:solidFill>
          <a:ln w="9525">
            <a:solidFill>
              <a:srgbClr val="E6ECE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0C63DF0-A5DC-4D2B-8E70-26118C795DFF}"/>
              </a:ext>
            </a:extLst>
          </p:cNvPr>
          <p:cNvSpPr>
            <a:spLocks noGrp="1"/>
          </p:cNvSpPr>
          <p:nvPr/>
        </p:nvSpPr>
        <p:spPr>
          <a:xfrm>
            <a:off x="3314700" y="3762375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60"/>
                </a:solidFill>
                <a:latin typeface="Aptos"/>
                <a:ea typeface="Aptos"/>
                <a:cs typeface="Aptos"/>
              </a:rPr>
              <a:t>C   (4, 1)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9F0C5AC-8A03-435B-A56B-55158110197D}"/>
              </a:ext>
            </a:extLst>
          </p:cNvPr>
          <p:cNvSpPr>
            <a:spLocks noGrp="1"/>
          </p:cNvSpPr>
          <p:nvPr/>
        </p:nvSpPr>
        <p:spPr>
          <a:xfrm>
            <a:off x="4305300" y="3638550"/>
            <a:ext cx="838200" cy="457200"/>
          </a:xfrm>
          <a:prstGeom prst="rect">
            <a:avLst/>
          </a:prstGeom>
          <a:solidFill>
            <a:srgbClr val="F7F8F4"/>
          </a:solidFill>
          <a:ln w="9525">
            <a:solidFill>
              <a:srgbClr val="E6ECE8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6A0AC6F-7483-4BED-9571-69D009C58260}"/>
              </a:ext>
            </a:extLst>
          </p:cNvPr>
          <p:cNvSpPr>
            <a:spLocks noGrp="1"/>
          </p:cNvSpPr>
          <p:nvPr/>
        </p:nvSpPr>
        <p:spPr>
          <a:xfrm>
            <a:off x="4381500" y="3762375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60"/>
                </a:solidFill>
                <a:latin typeface="Aptos"/>
                <a:ea typeface="Aptos"/>
                <a:cs typeface="Aptos"/>
              </a:rPr>
              <a:t>D   (5, 0)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F080710-DDF6-4333-AAD9-20FA1A27978E}"/>
              </a:ext>
            </a:extLst>
          </p:cNvPr>
          <p:cNvSpPr>
            <a:spLocks noGrp="1"/>
          </p:cNvSpPr>
          <p:nvPr/>
        </p:nvSpPr>
        <p:spPr>
          <a:xfrm>
            <a:off x="857250" y="4171950"/>
            <a:ext cx="4343400" cy="9525"/>
          </a:xfrm>
          <a:prstGeom prst="rect">
            <a:avLst/>
          </a:prstGeom>
          <a:solidFill>
            <a:srgbClr val="E6EC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3003237-632A-476A-AF45-F75EF8A5E1BF}"/>
              </a:ext>
            </a:extLst>
          </p:cNvPr>
          <p:cNvSpPr>
            <a:spLocks noGrp="1"/>
          </p:cNvSpPr>
          <p:nvPr/>
        </p:nvSpPr>
        <p:spPr>
          <a:xfrm>
            <a:off x="857250" y="440055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4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423"/>
                </a:solidFill>
                <a:latin typeface="Aptos"/>
                <a:ea typeface="Aptos"/>
                <a:cs typeface="Aptos"/>
              </a:rPr>
              <a:t>Diagnostic use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22062F7-2301-4087-A67E-FA8BB6DE177F}"/>
              </a:ext>
            </a:extLst>
          </p:cNvPr>
          <p:cNvSpPr>
            <a:spLocks noGrp="1"/>
          </p:cNvSpPr>
          <p:nvPr/>
        </p:nvSpPr>
        <p:spPr>
          <a:xfrm>
            <a:off x="2457450" y="4400550"/>
            <a:ext cx="2724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60"/>
                </a:solidFill>
                <a:latin typeface="Aptos"/>
                <a:ea typeface="Aptos"/>
                <a:cs typeface="Aptos"/>
              </a:rPr>
              <a:t>A, C, and D satisfy the first equation only. B satisfies both, so it is the solution.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2AD3081-11B1-402C-A27C-16849359AF21}"/>
              </a:ext>
            </a:extLst>
          </p:cNvPr>
          <p:cNvSpPr>
            <a:spLocks noGrp="1"/>
          </p:cNvSpPr>
          <p:nvPr/>
        </p:nvSpPr>
        <p:spPr>
          <a:xfrm>
            <a:off x="6076950" y="1866900"/>
            <a:ext cx="5562600" cy="3333750"/>
          </a:xfrm>
          <a:prstGeom prst="rect">
            <a:avLst/>
          </a:prstGeom>
          <a:solidFill>
            <a:srgbClr val="24312F"/>
          </a:solidFill>
          <a:ln w="9525">
            <a:solidFill>
              <a:srgbClr val="24312F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C215F51-91C3-427C-9C9D-E6812CA66B1C}"/>
              </a:ext>
            </a:extLst>
          </p:cNvPr>
          <p:cNvSpPr>
            <a:spLocks noGrp="1"/>
          </p:cNvSpPr>
          <p:nvPr/>
        </p:nvSpPr>
        <p:spPr>
          <a:xfrm>
            <a:off x="6076950" y="1866900"/>
            <a:ext cx="76200" cy="3333750"/>
          </a:xfrm>
          <a:prstGeom prst="rect">
            <a:avLst/>
          </a:prstGeom>
          <a:solidFill>
            <a:srgbClr val="247A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230E9B8-3318-4D67-93F9-A81930FB7B06}"/>
              </a:ext>
            </a:extLst>
          </p:cNvPr>
          <p:cNvSpPr>
            <a:spLocks noGrp="1"/>
          </p:cNvSpPr>
          <p:nvPr/>
        </p:nvSpPr>
        <p:spPr>
          <a:xfrm>
            <a:off x="6400800" y="2114550"/>
            <a:ext cx="3238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Resources and adaptation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0BCEB1CA-FAB9-4604-BE45-9FFD7DCF560A}"/>
              </a:ext>
            </a:extLst>
          </p:cNvPr>
          <p:cNvSpPr>
            <a:spLocks noGrp="1"/>
          </p:cNvSpPr>
          <p:nvPr/>
        </p:nvSpPr>
        <p:spPr>
          <a:xfrm>
            <a:off x="6467475" y="2657475"/>
            <a:ext cx="57150" cy="57150"/>
          </a:xfrm>
          <a:prstGeom prst="ellipse">
            <a:avLst/>
          </a:prstGeom>
          <a:solidFill>
            <a:srgbClr val="E2B84C"/>
          </a:solidFill>
          <a:ln w="19050">
            <a:solidFill>
              <a:srgbClr val="E2B84C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A0D89B0-9ED8-42E2-AB20-D8DDEFDDCD94}"/>
              </a:ext>
            </a:extLst>
          </p:cNvPr>
          <p:cNvSpPr>
            <a:spLocks noGrp="1"/>
          </p:cNvSpPr>
          <p:nvPr/>
        </p:nvSpPr>
        <p:spPr>
          <a:xfrm>
            <a:off x="6648450" y="2590800"/>
            <a:ext cx="4514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Mini-whiteboards for whole-class checks.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AB9239B8-42CD-4FC8-B579-9DF035A0446C}"/>
              </a:ext>
            </a:extLst>
          </p:cNvPr>
          <p:cNvSpPr>
            <a:spLocks noGrp="1"/>
          </p:cNvSpPr>
          <p:nvPr/>
        </p:nvSpPr>
        <p:spPr>
          <a:xfrm>
            <a:off x="6467475" y="3057525"/>
            <a:ext cx="57150" cy="57150"/>
          </a:xfrm>
          <a:prstGeom prst="ellipse">
            <a:avLst/>
          </a:prstGeom>
          <a:solidFill>
            <a:srgbClr val="247A73"/>
          </a:solidFill>
          <a:ln w="19050">
            <a:solidFill>
              <a:srgbClr val="247A73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7C57E8C-EADB-4F75-8A44-D69CD81CF461}"/>
              </a:ext>
            </a:extLst>
          </p:cNvPr>
          <p:cNvSpPr>
            <a:spLocks noGrp="1"/>
          </p:cNvSpPr>
          <p:nvPr/>
        </p:nvSpPr>
        <p:spPr>
          <a:xfrm>
            <a:off x="6648450" y="2990850"/>
            <a:ext cx="4514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Projected graph or dynamic graphing tool.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0D0E619C-765D-4A8A-9D7B-62FF1EB4B4F4}"/>
              </a:ext>
            </a:extLst>
          </p:cNvPr>
          <p:cNvSpPr>
            <a:spLocks noGrp="1"/>
          </p:cNvSpPr>
          <p:nvPr/>
        </p:nvSpPr>
        <p:spPr>
          <a:xfrm>
            <a:off x="6467475" y="3457575"/>
            <a:ext cx="57150" cy="57150"/>
          </a:xfrm>
          <a:prstGeom prst="ellipse">
            <a:avLst/>
          </a:prstGeom>
          <a:solidFill>
            <a:srgbClr val="E85D4A"/>
          </a:solidFill>
          <a:ln w="19050">
            <a:solidFill>
              <a:srgbClr val="E85D4A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448DED1-F67A-46C8-A5A6-6BD299B1DB0E}"/>
              </a:ext>
            </a:extLst>
          </p:cNvPr>
          <p:cNvSpPr>
            <a:spLocks noGrp="1"/>
          </p:cNvSpPr>
          <p:nvPr/>
        </p:nvSpPr>
        <p:spPr>
          <a:xfrm>
            <a:off x="6648450" y="3390900"/>
            <a:ext cx="4514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Printed axes and matching cards for pairs.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7F1D5794-9C87-4B2F-96E5-8537FA30CACA}"/>
              </a:ext>
            </a:extLst>
          </p:cNvPr>
          <p:cNvSpPr>
            <a:spLocks noGrp="1"/>
          </p:cNvSpPr>
          <p:nvPr/>
        </p:nvSpPr>
        <p:spPr>
          <a:xfrm>
            <a:off x="6467475" y="3857625"/>
            <a:ext cx="57150" cy="57150"/>
          </a:xfrm>
          <a:prstGeom prst="ellipse">
            <a:avLst/>
          </a:prstGeom>
          <a:solidFill>
            <a:srgbClr val="E2B84C"/>
          </a:solidFill>
          <a:ln w="19050">
            <a:solidFill>
              <a:srgbClr val="E2B84C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EC043F9-394B-4C3B-AC74-33D02DB3ABA1}"/>
              </a:ext>
            </a:extLst>
          </p:cNvPr>
          <p:cNvSpPr>
            <a:spLocks noGrp="1"/>
          </p:cNvSpPr>
          <p:nvPr/>
        </p:nvSpPr>
        <p:spPr>
          <a:xfrm>
            <a:off x="6648450" y="3790950"/>
            <a:ext cx="4514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Scaffold: same y coefficient first; colour-code subtraction.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1091C196-01E0-4A73-B1DC-D147528CD43B}"/>
              </a:ext>
            </a:extLst>
          </p:cNvPr>
          <p:cNvSpPr>
            <a:spLocks noGrp="1"/>
          </p:cNvSpPr>
          <p:nvPr/>
        </p:nvSpPr>
        <p:spPr>
          <a:xfrm>
            <a:off x="6467475" y="4257675"/>
            <a:ext cx="57150" cy="57150"/>
          </a:xfrm>
          <a:prstGeom prst="ellipse">
            <a:avLst/>
          </a:prstGeom>
          <a:solidFill>
            <a:srgbClr val="247A73"/>
          </a:solidFill>
          <a:ln w="19050">
            <a:solidFill>
              <a:srgbClr val="247A73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7B8BB8D-3AB4-4632-AC89-B0B4CF7F9CCE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4514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Challenge: parallel lines, no solution, or linear/quadratic extension.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2FAFE95-D587-4341-B2FA-942DB332751E}"/>
              </a:ext>
            </a:extLst>
          </p:cNvPr>
          <p:cNvSpPr>
            <a:spLocks noGrp="1"/>
          </p:cNvSpPr>
          <p:nvPr/>
        </p:nvSpPr>
        <p:spPr>
          <a:xfrm>
            <a:off x="933450" y="5543550"/>
            <a:ext cx="103251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CE8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0B13FD8-B55B-4F26-993E-BAC2F71949E0}"/>
              </a:ext>
            </a:extLst>
          </p:cNvPr>
          <p:cNvSpPr>
            <a:spLocks noGrp="1"/>
          </p:cNvSpPr>
          <p:nvPr/>
        </p:nvSpPr>
        <p:spPr>
          <a:xfrm>
            <a:off x="1200150" y="571500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4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42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DE7D246-E371-40DB-BBDA-B1EE3B56FCE7}"/>
              </a:ext>
            </a:extLst>
          </p:cNvPr>
          <p:cNvSpPr>
            <a:spLocks noGrp="1"/>
          </p:cNvSpPr>
          <p:nvPr/>
        </p:nvSpPr>
        <p:spPr>
          <a:xfrm>
            <a:off x="2438400" y="5695950"/>
            <a:ext cx="542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4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60"/>
                </a:solidFill>
                <a:latin typeface="Aptos"/>
                <a:ea typeface="Aptos"/>
                <a:cs typeface="Aptos"/>
              </a:rPr>
              <a:t>Solve p + q = 9 and p - q = 1, then explain where the answer appears on a graph.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6338D89-964E-498F-9B41-9E0F4EBA1D4E}"/>
              </a:ext>
            </a:extLst>
          </p:cNvPr>
          <p:cNvSpPr>
            <a:spLocks noGrp="1"/>
          </p:cNvSpPr>
          <p:nvPr/>
        </p:nvSpPr>
        <p:spPr>
          <a:xfrm>
            <a:off x="8058150" y="5695950"/>
            <a:ext cx="2857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242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423"/>
                </a:solidFill>
                <a:latin typeface="Aptos"/>
                <a:ea typeface="Aptos"/>
                <a:cs typeface="Aptos"/>
              </a:rPr>
              <a:t>Success: define solution, eliminate accurately, interpret the intersection.</a:t>
            </a:r>
          </a:p>
        </p:txBody>
      </p:sp>
    </p:spTree>
    <p:extLst>
      <p:ext uri="{BB962C8B-B14F-4D97-AF65-F5344CB8AC3E}">
        <p14:creationId xmlns:p14="http://schemas.microsoft.com/office/powerpoint/2010/main" val="14233503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611</Words>
  <Application>Microsoft Office PowerPoint</Application>
  <DocSecurity>0</DocSecurity>
  <PresentationFormat>宽屏</PresentationFormat>
  <Paragraphs>103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Aptos Mono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Haocheng Lin</cp:lastModifiedBy>
  <cp:revision>2</cp:revision>
  <dcterms:created xsi:type="dcterms:W3CDTF">2026-06-11T10:14:29Z</dcterms:created>
  <dcterms:modified xsi:type="dcterms:W3CDTF">2026-06-11T10:25:59Z</dcterms:modified>
</cp:coreProperties>
</file>