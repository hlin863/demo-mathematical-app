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a57ca4f2be4ec7" /><Relationship Type="http://schemas.openxmlformats.org/officeDocument/2006/relationships/extended-properties" Target="/docProps/app.xml" Id="R5dd334f562cd4461" /><Relationship Type="http://schemas.openxmlformats.org/officeDocument/2006/relationships/officeDocument" Target="/ppt/presentation.xml" Id="Rc4a8f3ab6f1442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2cfea2bc514053"/>
  </p:sldMasterIdLst>
  <p:notesMasterIdLst>
    <p:notesMasterId xmlns:r="http://schemas.openxmlformats.org/officeDocument/2006/relationships" r:id="R2c357d520d9549b0"/>
  </p:notesMasterIdLst>
  <p:sldIdLst>
    <p:sldId xmlns:r="http://schemas.openxmlformats.org/officeDocument/2006/relationships" id="256" r:id="Reb81c06c10844fba"/>
    <p:sldId xmlns:r="http://schemas.openxmlformats.org/officeDocument/2006/relationships" id="257" r:id="Rd8649d10fc0f4219"/>
    <p:sldId xmlns:r="http://schemas.openxmlformats.org/officeDocument/2006/relationships" id="258" r:id="Rbab2c556f4f441b4"/>
    <p:sldId xmlns:r="http://schemas.openxmlformats.org/officeDocument/2006/relationships" id="259" r:id="R9cf778f15c464a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8f6e1dc7a849f2" /><Relationship Type="http://schemas.openxmlformats.org/officeDocument/2006/relationships/slideMaster" Target="/ppt/slideMasters/slideMaster1.xml" Id="R122cfea2bc514053" /><Relationship Type="http://schemas.openxmlformats.org/officeDocument/2006/relationships/notesMaster" Target="/ppt/notesMasters/notesMaster1.xml" Id="R2c357d520d9549b0" /><Relationship Type="http://schemas.openxmlformats.org/officeDocument/2006/relationships/presProps" Target="/ppt/presProps.xml" Id="R86a1a4cbd9fb426d" /><Relationship Type="http://schemas.openxmlformats.org/officeDocument/2006/relationships/viewProps" Target="/ppt/viewProps.xml" Id="Rf1df123c5ee24045" /><Relationship Type="http://schemas.openxmlformats.org/officeDocument/2006/relationships/tableStyles" Target="/ppt/tableStyles.xml" Id="R5a2656df7be440f2" /><Relationship Type="http://schemas.openxmlformats.org/officeDocument/2006/relationships/slide" Target="/ppt/slides/slide1.xml" Id="Reb81c06c10844fba" /><Relationship Type="http://schemas.openxmlformats.org/officeDocument/2006/relationships/slide" Target="/ppt/slides/slide2.xml" Id="Rd8649d10fc0f4219" /><Relationship Type="http://schemas.openxmlformats.org/officeDocument/2006/relationships/slide" Target="/ppt/slides/slide3.xml" Id="Rbab2c556f4f441b4" /><Relationship Type="http://schemas.openxmlformats.org/officeDocument/2006/relationships/slide" Target="/ppt/slides/slide4.xml" Id="R9cf778f15c464a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54da7441c14b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0fb2c9db204c07" /><Relationship Type="http://schemas.openxmlformats.org/officeDocument/2006/relationships/notesMaster" Target="/ppt/notesMasters/notesMaster1.xml" Id="R08e3b012b30c4e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d47b13a9164bc8" /><Relationship Type="http://schemas.openxmlformats.org/officeDocument/2006/relationships/notesMaster" Target="/ppt/notesMasters/notesMaster1.xml" Id="R61daaf3dc47540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fa7e201d6b4242" /><Relationship Type="http://schemas.openxmlformats.org/officeDocument/2006/relationships/notesMaster" Target="/ppt/notesMasters/notesMaster1.xml" Id="Reb61c92e9fe24c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a529980f64460e" /><Relationship Type="http://schemas.openxmlformats.org/officeDocument/2006/relationships/notesMaster" Target="/ppt/notesMasters/notesMaster1.xml" Id="Re90a7ff9e16943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03c1d02464e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17fe130bd34cfe" /><Relationship Type="http://schemas.openxmlformats.org/officeDocument/2006/relationships/slideLayout" Target="/ppt/slideLayouts/slideLayout1.xml" Id="R142cbbf08fdd45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2cbbf08fdd45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cbc1853ac40be" /><Relationship Type="http://schemas.openxmlformats.org/officeDocument/2006/relationships/notesSlide" Target="/ppt/notesSlides/notesSlide1.xml" Id="R018c49eb70164b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bbf73a2704f3c" /><Relationship Type="http://schemas.openxmlformats.org/officeDocument/2006/relationships/notesSlide" Target="/ppt/notesSlides/notesSlide2.xml" Id="R38ba30c0a18043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504655da042bb" /><Relationship Type="http://schemas.openxmlformats.org/officeDocument/2006/relationships/notesSlide" Target="/ppt/notesSlides/notesSlide3.xml" Id="R2f24df04dab747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e0fab5fcc449f" /><Relationship Type="http://schemas.openxmlformats.org/officeDocument/2006/relationships/notesSlide" Target="/ppt/notesSlides/notesSlide4.xml" Id="Rfe2451dfb7964b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207E4D-3AB6-43B3-809D-B9000AA0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B2D21-A603-42C8-A72F-106C6775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627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94D0C-AEF5-4D12-B3F0-906605BE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DfE National Curriculum, KS4 Mathematics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BA1B0-3086-47A8-B4CA-1AAA696B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29375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1/4</a:t>
            </a:r>
          </a:p>
        </p:txBody>
      </p:sp>
      <p:sp>
        <p:nvSpPr>
          <p:cNvPr id="5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428B0882-3A31-45CB-8D80-5A48A99E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498EFA15-46FC-4088-9B38-7EAF0F3A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KS4 ALGEBRA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3ABEB-DBD8-4937-A0AC-D69DF0A2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590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Two equations locate one shared solution.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2C8B2-9798-44EF-8D45-144AC39F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47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Lesson topic: solving simultaneous linear equations by linking elimination to a line intersection.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81C5B1-6A30-4385-B056-77A3296D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210A57-A8CD-4B77-8238-DCBD1BAF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9F66A-2A70-4F6F-8BEF-D88BF503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Starter example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DDEB0-9DAE-403D-94A0-9A1B1382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23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x + y = 5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23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2x + y =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CDF3F6-5A0A-4223-A783-F8B494D4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43250"/>
            <a:ext cx="95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5A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5AD62-01ED-48B8-AB64-76279DE1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2099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E2B84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996DEE-764F-4AC7-8A7F-6D02C26D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432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Subtract the first equation.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C5A70-CC5E-4B11-A63F-26581473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7242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E2B84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1A12BC-B8EE-4162-915A-161CD73F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65760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x =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9D34E-3202-44B1-A021-3F71CBDF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2386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19050">
            <a:solidFill>
              <a:srgbClr val="247A7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C4E75A-66D7-47A7-8172-7B683CA9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1719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Substitute: 3 + y =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0F909-103F-4DB4-9C7E-D5D3DE59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7529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19050">
            <a:solidFill>
              <a:srgbClr val="E85D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C3EACC-D612-4D79-9D29-9D4BA218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8630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y = 2, so the solution is (3, 2).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69CA77-94CC-4091-B1D8-5E30D465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3C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3C4"/>
                </a:solidFill>
                <a:latin typeface="Aptos"/>
                <a:ea typeface="Aptos"/>
                <a:cs typeface="Aptos"/>
              </a:rPr>
              <a:t>A solution must satisfy both equations.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A574-338F-43AB-895A-6DD2D779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00200"/>
            <a:ext cx="485775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1BA34C-9AF1-4D93-B94D-9123E119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333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Graphical meaning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B86AB-20C8-45EA-89B9-FC03B85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42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F0C966-1947-47E7-B614-07A02727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716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8E357C-298D-4F13-B425-0E999943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95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421B6A-596C-46C6-8F3A-900802DE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114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949AC5-07F6-4490-A112-04A2D4E7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938BE4-8FD6-4B1F-A5E6-84CB5D0F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511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D2E754-7EC8-40F0-A517-2CACF9F5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CEC5EE-9F77-412B-B692-3F8464D6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44E4C0-1BAD-44BD-AB47-12D2ED77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20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9F326D-AA2F-4103-84B0-C6E385ED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306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A36F0E-4BE7-47D5-B4FE-09AD9AF5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295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76D7C4-CB88-4093-91CB-6E0FEC9F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704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32A974-AA4E-4808-A2B1-2B2AC534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7716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FDAC30-3D18-439E-B33C-96454068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101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42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C55571-7D70-4CDF-98BE-9D9D1B77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48250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2A5D5C-2C71-4BCD-ACC3-C8DF7E18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48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BB9C05-843D-4413-98AB-3E2B3819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048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94830C-C67B-45A7-821D-247245B4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5837DB-DFFA-4791-A4FC-6C23CEED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933950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8F5E6-221D-4B35-947B-614922C7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09750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6EC0CA-65D4-49F6-9E86-604EA5D8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11400"/>
            <a:ext cx="2698750" cy="26987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247A7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6A98B9-E9A9-4B92-B460-D2BE0B29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950" y="1771650"/>
            <a:ext cx="1619250" cy="32385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E85D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5E952F5-B9AC-4151-B099-A59D1D8D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8449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18242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12D120-D417-4219-805F-251AAFA7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78250"/>
            <a:ext cx="723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EFBFB-F255-4D27-B934-8A0909E9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354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rPr>
              <a:t>(3, 2)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3C363D-CFBC-4194-9F05-E3D1E64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0990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3F0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F018D3-B4B8-40B7-8E28-6B2860BB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7A73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47A73"/>
                </a:solidFill>
                <a:latin typeface="Aptos Mono"/>
                <a:ea typeface="Aptos Mono"/>
                <a:cs typeface="Aptos Mono"/>
              </a:rPr>
              <a:t>x + y = 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E1C195-8361-4664-9026-1E412125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241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6E1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9818C9C-A498-43A6-B5B3-C49EB071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81250"/>
            <a:ext cx="1009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5D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5D4A"/>
                </a:solidFill>
                <a:latin typeface="Aptos Mono"/>
                <a:ea typeface="Aptos Mono"/>
                <a:cs typeface="Aptos Mono"/>
              </a:rPr>
              <a:t>2x + y = 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DEDBF5-AAC0-4E9C-9B91-5CC85273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4292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Knowledge target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38269BA-446B-4FC2-8EAE-98758670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10200"/>
            <a:ext cx="2971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Pupils connect the algebraic answer to the intersection of two straight lines.</a:t>
            </a:r>
          </a:p>
        </p:txBody>
      </p:sp>
    </p:spTree>
    <p:extLst>
      <p:ext uri="{BB962C8B-B14F-4D97-AF65-F5344CB8AC3E}">
        <p14:creationId xmlns:p14="http://schemas.microsoft.com/office/powerpoint/2010/main" val="33654054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2EAE5A-3BD2-46E1-AC32-DF611F67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44C11-932A-4774-BDCE-6B9AC05B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627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47128-1F9B-41D0-8D05-0034D0D6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DfE National Curriculum, KS4 Mathematics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36DEA-F845-4A6D-851F-FCDA1941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29375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2/4</a:t>
            </a:r>
          </a:p>
        </p:txBody>
      </p:sp>
      <p:sp>
        <p:nvSpPr>
          <p:cNvPr id="5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052BE987-5AC3-4559-8C91-7DBA6B7D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25EECB23-D28E-4F12-8863-656898DB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LESSON STRUCTURE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94A5C0-6F2F-4064-90E3-5452A5D0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858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The hour moves from meaning to method to independent use.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87017-26B4-417C-A5F6-DAEB3A37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3F0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1DDCF-4B18-4408-81FF-DE9CA793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4735C-7785-449F-B639-7BF038F7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0-8 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71C40-8FF4-43ED-8E6E-07EE8D5F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Retrieve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5B1AD-D788-48DD-BA82-4EB571C3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CD1D12-F859-490B-9B46-22D8DF9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Rearrange to y = mx + c; plot two points; solve one-step equations.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A7848-13E7-4052-9989-768D6D5D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6E1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4EE42B-6EC2-446A-8A69-ADB17095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B63474-981B-40AC-8042-763EDA16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8-18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A7589-9ABD-49A9-8F15-44D4C3FA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Hook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4C020-741A-4BD6-AB84-064C551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47B40-E801-4FB5-A0A5-582E63BB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Which point works in both rules? Pupils test points on mini-whiteboards.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BA49E-6BA5-4BAE-BC0D-4AE9A05D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9EA341-1257-4AF4-9B64-4AB8E57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5DD114-D598-4EDF-847B-4A074706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18-33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EF9A35-6226-4757-BE70-6EC6A34E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959C8A-6FC0-4D5D-93D2-9F6DDBCB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3C012B-16A4-4D76-8A8D-252FE3B1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Plot both lines, then eliminate the shared y term to solve exactly.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3A2A70-F23B-4E2E-A49C-D7F89550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3F0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873BE0-0138-4C87-8DE3-44BE5E85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39AF5-31B7-4BE9-877E-6BAB14D0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33-48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ED4800-D12C-4875-A9FC-4898C537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Practise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987206-1100-4C4D-A686-ABC7F7D0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C40CFA-5CE8-4164-8CBC-2BDA44B4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Pairs match graph, equations, and solution before independent practice.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16B50B-BE4B-4DF8-8D5C-5157B35C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6E1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920080-12B0-4AE4-93A5-7DE99261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C20DE0-C7FA-4C4F-8F46-EFA8EB67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48-56 min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37998B-3A17-4CA6-8226-66C408DF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Check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FFC41E-C8EB-4763-A440-C1B13407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D0DF06-8175-45AF-B136-BB19D673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Hinge question: choose the solution and explain a common error.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A930EF-E70F-4CAB-9F19-0A9FAF74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81200"/>
            <a:ext cx="1752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FF1A46-DEA4-4646-AAC9-D2E6D2B0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8120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16D73C-0DBE-48E3-883E-DD09E607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2479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56-60 min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FC8F55-FD97-4676-A461-EA3EEA96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527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Exit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8C881A-CBB3-466B-AEEB-7C980C3E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990850"/>
            <a:ext cx="144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627207-1170-4087-BD40-D60593CE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81350"/>
            <a:ext cx="1447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One short problem plus: 'How would this look on a graph?'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D90319-B847-4AC7-A0B5-8B9568F7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032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8586D1-4A1C-4BBB-BC4F-4A1FFC9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5BA663-797D-4B2D-BBE2-195456DB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1952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Why this order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2C22F4-9D71-45E5-BBDA-9B89941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143500"/>
            <a:ext cx="7477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Retrieval secures prerequisites, the graph gives meaning before procedure, and the hinge question catches misconceptions before pupils leave.</a:t>
            </a:r>
          </a:p>
        </p:txBody>
      </p:sp>
    </p:spTree>
    <p:extLst>
      <p:ext uri="{BB962C8B-B14F-4D97-AF65-F5344CB8AC3E}">
        <p14:creationId xmlns:p14="http://schemas.microsoft.com/office/powerpoint/2010/main" val="14171974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35ADAC-18B8-49FF-825D-4B74D7EE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0106D-F75F-423A-B392-CAFDCFEF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627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DDA96-02A3-4865-A947-DF039456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DfE National Curriculum, KS4 Mathematics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44F1D-3C8E-4680-AB77-B045B91F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29375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3/4</a:t>
            </a:r>
          </a:p>
        </p:txBody>
      </p:sp>
      <p:sp>
        <p:nvSpPr>
          <p:cNvPr id="5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A19229FB-5384-4CC7-A1A5-69EEB56F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CFF701AC-116B-42D9-BEE5-1C3386D4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ACTIVITIES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BFC7F-97DB-4E5E-9B61-E6986CA2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525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Engagement comes from pupils making and testing the constraints.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74C52-37F0-4760-9B49-1EB45F52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11087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7CB00-0EE0-45E3-A266-680B1666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6DB0A-76C9-4399-8E78-694E0506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990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One adult + one child ticket costs GBP 5. Two adults + one child costs GBP 8. What is each ticket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76FD5-94F1-4603-A4A6-1B45307D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33528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3F0"/>
          </a:solidFill>
          <a:ln xmlns:a="http://schemas.openxmlformats.org/drawingml/2006/main" w="9525">
            <a:solidFill>
              <a:srgbClr val="D8E2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37504-F96B-4405-A6F8-1399911A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527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19050">
            <a:solidFill>
              <a:srgbClr val="247A7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8440E-FE2B-4300-A762-696FEB0E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19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F293E-4787-4F09-B92F-459AFE69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62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See 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B2520-5E89-4351-8C68-7194914E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Test points against both equations, then locate the shared point on a graph.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A00C2-98EA-4B7F-9F61-34E2CA8D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4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66A46-1D83-49BE-9EC8-C113440B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Resource: printed axes or Desmos/GeoGebra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28C56-9318-402E-8B13-7CB6A947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90850"/>
            <a:ext cx="33528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6E1"/>
          </a:solidFill>
          <a:ln xmlns:a="http://schemas.openxmlformats.org/drawingml/2006/main" w="9525">
            <a:solidFill>
              <a:srgbClr val="D8E2D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96FC33-95DA-4C29-8614-86589213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527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19050">
            <a:solidFill>
              <a:srgbClr val="E85D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D9072-4F24-49C9-AD64-D6927F13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19450"/>
            <a:ext cx="19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D62654-4B95-4AC9-B8B3-0C51D3EB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62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Say 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705448-D52D-4D9B-AB99-C592DB18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766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Pairs explain why a point can satisfy one equation but still fail the system.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45B2B-38EB-48B2-BDEB-E09D9DBA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196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4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0943D-8B34-4052-B4A9-5E4AB799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Resource: sentence stem and mini-whiteboards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531C87-A4D0-49A1-9233-2165F35A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90850"/>
            <a:ext cx="33528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D8E2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B4AF-B87D-4EA0-BF2C-E0EE4064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1527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E2B8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031E52-32BF-4BBE-8AEC-901B78EB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19450"/>
            <a:ext cx="19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5E879D-CBB2-4B89-B4AE-815A4EA0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Do 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C4603D-DD85-4F08-96B7-8D465BB9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766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423"/>
                </a:solidFill>
                <a:latin typeface="Aptos"/>
                <a:ea typeface="Aptos"/>
                <a:cs typeface="Aptos"/>
              </a:rPr>
              <a:t>Use elimination to solve, then interpret x and y in the ticket context.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091A9-9D56-4D7B-9AB5-72D0C39B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196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4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F2123F-D6CE-461E-BC59-1C033AC2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339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Resource: equation cards and exit slip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3F9FA3-B2FE-4CD7-8696-4BAF9FB8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2920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CD28AE-7000-4DC4-8027-7351F45B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14925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Point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428199-9B4D-4500-8380-102F6007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292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C61F06-5901-4E42-86B1-8534031B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149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x + y = 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CE5A9B-3968-4983-9DF6-E0D12F49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29200"/>
            <a:ext cx="1200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CEC85F-E664-4BDD-BC31-91B460C5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11492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2x + y = 8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9FC684-294A-4245-8DB0-AC6E0317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3400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FC58F8-8102-465B-9CA0-0C621EF5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41020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(2, 3)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5C93AF-6CE0-4198-94A3-8FE7BE22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340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566591-13ED-4365-89D3-57AE4828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4102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yes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3B7E59-256A-4CD9-8D03-74DF41FD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334000"/>
            <a:ext cx="1200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C256FB-D2AD-4999-A91A-97894C4A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102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no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7CF98B-02B6-4546-A9C3-7BB3CF8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3880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3DB5D5-1DCB-410E-873A-06E7D280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71500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(3, 2)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37348F-6B6D-438A-B72C-05AE4474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6388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D6AC8F-C0B5-4576-B33D-14B17464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150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rPr>
              <a:t>yes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3D3D34-D21A-4342-AFE5-8EE74058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638800"/>
            <a:ext cx="1200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EDC229-4ED5-4FA3-850A-3D21839B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7150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82423"/>
                </a:solidFill>
                <a:latin typeface="Aptos Mono"/>
                <a:ea typeface="Aptos Mono"/>
                <a:cs typeface="Aptos Mono"/>
              </a:rPr>
              <a:t>yes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B4AEB4-2F21-405C-8A9F-B46B64CB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94360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2A8493-D40A-484C-AB50-EF67771B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601980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(4, 1)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29EDF8F-7ACD-42B4-A990-9691614E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9436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17BCFC6-2D91-418E-9D41-755B8B1B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198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yes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935E87-617D-47FF-A778-2710675E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1200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011A5C-13B0-4EEF-BF50-3B9DEC9A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98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60"/>
                </a:solidFill>
                <a:latin typeface="Aptos Mono"/>
                <a:ea typeface="Aptos Mono"/>
                <a:cs typeface="Aptos Mono"/>
              </a:rPr>
              <a:t>no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02516A-99F8-4C0C-A23C-0347D539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5780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Pupils see the same idea three ways: table, graph, and equations.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06AF8B-7FB8-400D-A762-B377F05E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791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That makes the later symbolic method less arbitrary.</a:t>
            </a:r>
          </a:p>
        </p:txBody>
      </p:sp>
    </p:spTree>
    <p:extLst>
      <p:ext uri="{BB962C8B-B14F-4D97-AF65-F5344CB8AC3E}">
        <p14:creationId xmlns:p14="http://schemas.microsoft.com/office/powerpoint/2010/main" val="7927981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4A25B5-E333-43FC-9614-6B9CFA8D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FEA68-5CF3-4326-8D1A-9DC65045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627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0A5F1-2400-4BAC-95FE-A8F37124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GOV.UK National Curriculum KS4: fluency, reasoning, problem solving, and KS4 Algebra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5D9B8-3061-41CB-B861-360BCE15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29375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4/4</a:t>
            </a:r>
          </a:p>
        </p:txBody>
      </p:sp>
      <p:sp>
        <p:nvSpPr>
          <p:cNvPr id="5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EA4602A9-0BD0-4BC4-9732-6F236B66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AEA07376-4EAC-4462-AC41-7A251FB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B6460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2EF16-AC68-498F-B590-8C1E0491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90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I would check whether pupils know why the method works, not just the answer.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B9036-8806-442C-8822-DBAD585D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5124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B2AC5-AE69-48EB-9792-9CD54F91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2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DF2C69-F1CF-43C3-B865-1DB39673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82423"/>
                </a:solidFill>
                <a:latin typeface="Aptos Display"/>
                <a:ea typeface="Aptos Display"/>
                <a:cs typeface="Aptos Display"/>
              </a:rPr>
              <a:t>Hinge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ED1F3-08B4-4EE2-9395-17AE7065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Which point solves both equations?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BD6C62-A54A-4358-B133-381494B3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423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82423"/>
                </a:solidFill>
                <a:latin typeface="Aptos Mono"/>
                <a:ea typeface="Aptos Mono"/>
                <a:cs typeface="Aptos Mono"/>
              </a:rPr>
              <a:t>x + y = 5</a:t>
            </a:r>
          </a:p>
          <a:p xmlns:a="http://schemas.openxmlformats.org/drawingml/2006/main">
            <a:pPr algn="l">
              <a:defRPr sz="1875" b="1">
                <a:solidFill>
                  <a:srgbClr val="182423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82423"/>
                </a:solidFill>
                <a:latin typeface="Aptos Mono"/>
                <a:ea typeface="Aptos Mono"/>
                <a:cs typeface="Aptos Mono"/>
              </a:rPr>
              <a:t>2x + y =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C3C18-AAE4-4B51-B346-83FB366C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14650"/>
            <a:ext cx="838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D16E0-8DDD-4F95-B05B-7F655A93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384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A   (2, 3)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909C2-5B56-4A99-A5BA-A07034FA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14650"/>
            <a:ext cx="838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4"/>
          </a:solidFill>
          <a:ln xmlns:a="http://schemas.openxmlformats.org/drawingml/2006/main" w="9525">
            <a:solidFill>
              <a:srgbClr val="E2B84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A7929-903C-4013-8660-78BB164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384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B   (3, 2)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061DF-13C5-4DCE-91AF-6CD53777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38550"/>
            <a:ext cx="838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63DF0-A5DC-4D2B-8E70-26118C79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623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C   (4, 1)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F0C5AC-8A03-435B-A56B-55158110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838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0AC6F-7483-4BED-9571-69D009C5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623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D   (5, 0)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080710-DDF6-4333-AAD9-20FA1A27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34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003237-632A-476A-AF45-F75EF8A5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Diagnostic use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2062F7-2301-4087-A67E-FA8BB6DE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00550"/>
            <a:ext cx="2724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A, C, and D satisfy the first equation only. B satisfies both, so it is the solution.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D3081-11B1-402C-A27C-16849359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66900"/>
            <a:ext cx="55626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2F"/>
          </a:solidFill>
          <a:ln xmlns:a="http://schemas.openxmlformats.org/drawingml/2006/main" w="9525">
            <a:solidFill>
              <a:srgbClr val="24312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215F51-91C3-427C-9C9D-E6812CA6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66900"/>
            <a:ext cx="762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30E9B8-3318-4D67-93F9-A81930FB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Resources and adaptation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CEB1CA-FAB9-4604-BE45-9FFD7DC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657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E2B84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0D89B0-9ED8-42E2-AB20-D8DDEFDD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90800"/>
            <a:ext cx="451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Mini-whiteboards for whole-class checks.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9239B8-42CD-4FC8-B579-9DF035A0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19050">
            <a:solidFill>
              <a:srgbClr val="247A7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7E8C-EADB-4F75-8A44-D69CD81C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51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Projected graph or dynamic graphing tool.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0E619C-765D-4A8A-9D7B-62FF1EB4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457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19050">
            <a:solidFill>
              <a:srgbClr val="E85D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48DED1-F67A-46C8-A5A6-6BD299B1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90900"/>
            <a:ext cx="451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Printed axes and matching cards for pairs.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1D5794-9C87-4B2F-96E5-8537FA30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8576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84C"/>
          </a:solidFill>
          <a:ln xmlns:a="http://schemas.openxmlformats.org/drawingml/2006/main" w="19050">
            <a:solidFill>
              <a:srgbClr val="E2B84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C043F9-394B-4C3B-AC74-33D02DB3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90950"/>
            <a:ext cx="451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Scaffold: same y coefficient first; colour-code subtraction.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91C196-01E0-4A73-B1DC-D147528C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2576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A73"/>
          </a:solidFill>
          <a:ln xmlns:a="http://schemas.openxmlformats.org/drawingml/2006/main" w="19050">
            <a:solidFill>
              <a:srgbClr val="247A7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B8BB8D-3AB4-4632-AC89-B0B4CF7F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51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Challenge: parallel lines, no solution, or linear/quadratic extension.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FAFE95-D587-4341-B2FA-942DB332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3550"/>
            <a:ext cx="103251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C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B13FD8-B55B-4F26-993E-BAC2F719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Exit ticket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E7D246-E371-40DB-BBDA-B1EE3B56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6959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6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60"/>
                </a:solidFill>
                <a:latin typeface="Aptos"/>
                <a:ea typeface="Aptos"/>
                <a:cs typeface="Aptos"/>
              </a:rPr>
              <a:t>Solve p + q = 9 and p - q = 1, then explain where the answer appears on a graph.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338D89-964E-498F-9B41-9E0F4EBA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69595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42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423"/>
                </a:solidFill>
                <a:latin typeface="Aptos"/>
                <a:ea typeface="Aptos"/>
                <a:cs typeface="Aptos"/>
              </a:rPr>
              <a:t>Success: define solution, eliminate accurately, interpret the intersection.</a:t>
            </a:r>
          </a:p>
        </p:txBody>
      </p:sp>
    </p:spTree>
    <p:extLst>
      <p:ext uri="{BB962C8B-B14F-4D97-AF65-F5344CB8AC3E}">
        <p14:creationId xmlns:p14="http://schemas.microsoft.com/office/powerpoint/2010/main" val="14233503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2026-06-11T10:14:29.4320000Z</dcterms:created>
  <dcterms:modified xsi:type="dcterms:W3CDTF">2026-06-11T10:14:29.4320000Z</dcterms:modified>
</coreProperties>
</file>